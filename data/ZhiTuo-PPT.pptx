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25db76a4b4644" /><Relationship Type="http://schemas.openxmlformats.org/officeDocument/2006/relationships/extended-properties" Target="/docProps/app.xml" Id="R87c51030adfc4ec5" /><Relationship Type="http://schemas.openxmlformats.org/officeDocument/2006/relationships/officeDocument" Target="/ppt/presentation.xml" Id="Rb31578e0c42148d1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9d4a573a60241d3"/>
    <p:sldMasterId xmlns:r="http://schemas.openxmlformats.org/officeDocument/2006/relationships" id="2147483650" r:id="R995ab1211ad04a17"/>
  </p:sldMasterIdLst>
  <p:notesMasterIdLst>
    <p:notesMasterId xmlns:r="http://schemas.openxmlformats.org/officeDocument/2006/relationships" r:id="Rd0bc118f24c54b70"/>
  </p:notesMasterIdLst>
  <p:sldIdLst>
    <p:sldId xmlns:r="http://schemas.openxmlformats.org/officeDocument/2006/relationships" id="256" r:id="Ra055cac9a32e479e"/>
    <p:sldId xmlns:r="http://schemas.openxmlformats.org/officeDocument/2006/relationships" id="257" r:id="R30ff625d5bf5485f"/>
    <p:sldId xmlns:r="http://schemas.openxmlformats.org/officeDocument/2006/relationships" id="258" r:id="R6ed8a66f33cd4713"/>
    <p:sldId xmlns:r="http://schemas.openxmlformats.org/officeDocument/2006/relationships" id="259" r:id="Rf5be9b77aa1b4a5e"/>
    <p:sldId xmlns:r="http://schemas.openxmlformats.org/officeDocument/2006/relationships" id="260" r:id="Rfa2b6130842b421f"/>
    <p:sldId xmlns:r="http://schemas.openxmlformats.org/officeDocument/2006/relationships" id="261" r:id="R92bd8f783aed4c3b"/>
    <p:sldId xmlns:r="http://schemas.openxmlformats.org/officeDocument/2006/relationships" id="262" r:id="Rd92721b0baa641aa"/>
    <p:sldId xmlns:r="http://schemas.openxmlformats.org/officeDocument/2006/relationships" id="263" r:id="Rc2fd53e815824681"/>
    <p:sldId xmlns:r="http://schemas.openxmlformats.org/officeDocument/2006/relationships" id="264" r:id="R67e4b0ac9e3841e7"/>
    <p:sldId xmlns:r="http://schemas.openxmlformats.org/officeDocument/2006/relationships" id="265" r:id="Rcef8c084f740429c"/>
    <p:sldId xmlns:r="http://schemas.openxmlformats.org/officeDocument/2006/relationships" id="266" r:id="Ra29f6cab4d294058"/>
    <p:sldId xmlns:r="http://schemas.openxmlformats.org/officeDocument/2006/relationships" id="267" r:id="R391536732db24270"/>
    <p:sldId xmlns:r="http://schemas.openxmlformats.org/officeDocument/2006/relationships" id="268" r:id="R85505b3c82ca406a"/>
    <p:sldId xmlns:r="http://schemas.openxmlformats.org/officeDocument/2006/relationships" id="269" r:id="Re09dd03a9ffd4462"/>
    <p:sldId xmlns:r="http://schemas.openxmlformats.org/officeDocument/2006/relationships" id="270" r:id="R3ff8efd701854eb4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c64ef39320684c5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1ffc61451e441f" /><Relationship Type="http://schemas.openxmlformats.org/officeDocument/2006/relationships/slideMaster" Target="/ppt/slideMasters/slideMaster1.xml" Id="R39d4a573a60241d3" /><Relationship Type="http://schemas.openxmlformats.org/officeDocument/2006/relationships/slideMaster" Target="/ppt/slideMasters/slideMaster2.xml" Id="R995ab1211ad04a17" /><Relationship Type="http://schemas.openxmlformats.org/officeDocument/2006/relationships/notesMaster" Target="/ppt/notesMasters/notesMaster1.xml" Id="Rd0bc118f24c54b70" /><Relationship Type="http://schemas.openxmlformats.org/officeDocument/2006/relationships/presProps" Target="/ppt/presProps.xml" Id="R2c4dca6649c44c1e" /><Relationship Type="http://schemas.openxmlformats.org/officeDocument/2006/relationships/viewProps" Target="/ppt/viewProps.xml" Id="R80a8b0ae22d04316" /><Relationship Type="http://schemas.openxmlformats.org/officeDocument/2006/relationships/tableStyles" Target="/ppt/tableStyles.xml" Id="Rcc8fd1bf6527457c" /><Relationship Type="http://schemas.openxmlformats.org/officeDocument/2006/relationships/font" Target="/ppt/fonts/font.dat" Id="Rc64ef39320684c5c" /><Relationship Type="http://schemas.openxmlformats.org/officeDocument/2006/relationships/slide" Target="/ppt/slides/slide1.xml" Id="Ra055cac9a32e479e" /><Relationship Type="http://schemas.openxmlformats.org/officeDocument/2006/relationships/slide" Target="/ppt/slides/slide2.xml" Id="R30ff625d5bf5485f" /><Relationship Type="http://schemas.openxmlformats.org/officeDocument/2006/relationships/slide" Target="/ppt/slides/slide3.xml" Id="R6ed8a66f33cd4713" /><Relationship Type="http://schemas.openxmlformats.org/officeDocument/2006/relationships/slide" Target="/ppt/slides/slide4.xml" Id="Rf5be9b77aa1b4a5e" /><Relationship Type="http://schemas.openxmlformats.org/officeDocument/2006/relationships/slide" Target="/ppt/slides/slide5.xml" Id="Rfa2b6130842b421f" /><Relationship Type="http://schemas.openxmlformats.org/officeDocument/2006/relationships/slide" Target="/ppt/slides/slide6.xml" Id="R92bd8f783aed4c3b" /><Relationship Type="http://schemas.openxmlformats.org/officeDocument/2006/relationships/slide" Target="/ppt/slides/slide7.xml" Id="Rd92721b0baa641aa" /><Relationship Type="http://schemas.openxmlformats.org/officeDocument/2006/relationships/slide" Target="/ppt/slides/slide8.xml" Id="Rc2fd53e815824681" /><Relationship Type="http://schemas.openxmlformats.org/officeDocument/2006/relationships/slide" Target="/ppt/slides/slide9.xml" Id="R67e4b0ac9e3841e7" /><Relationship Type="http://schemas.openxmlformats.org/officeDocument/2006/relationships/slide" Target="/ppt/slides/slide10.xml" Id="Rcef8c084f740429c" /><Relationship Type="http://schemas.openxmlformats.org/officeDocument/2006/relationships/slide" Target="/ppt/slides/slide11.xml" Id="Ra29f6cab4d294058" /><Relationship Type="http://schemas.openxmlformats.org/officeDocument/2006/relationships/slide" Target="/ppt/slides/slide12.xml" Id="R391536732db24270" /><Relationship Type="http://schemas.openxmlformats.org/officeDocument/2006/relationships/slide" Target="/ppt/slides/slide13.xml" Id="R85505b3c82ca406a" /><Relationship Type="http://schemas.openxmlformats.org/officeDocument/2006/relationships/slide" Target="/ppt/slides/slide14.xml" Id="Re09dd03a9ffd4462" /><Relationship Type="http://schemas.openxmlformats.org/officeDocument/2006/relationships/slide" Target="/ppt/slides/slide15.xml" Id="R3ff8efd70185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ed6131d1e36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b965737cb4bd4" /><Relationship Type="http://schemas.openxmlformats.org/officeDocument/2006/relationships/notesMaster" Target="/ppt/notesMasters/notesMaster1.xml" Id="R154ed5bc232f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b9ec3e78b4fa7" /><Relationship Type="http://schemas.openxmlformats.org/officeDocument/2006/relationships/notesMaster" Target="/ppt/notesMasters/notesMaster1.xml" Id="Rdc890c76449440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61993a04b49e2" /><Relationship Type="http://schemas.openxmlformats.org/officeDocument/2006/relationships/notesMaster" Target="/ppt/notesMasters/notesMaster1.xml" Id="Rdd037ca5676c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1e3c091ae4272" /><Relationship Type="http://schemas.openxmlformats.org/officeDocument/2006/relationships/notesMaster" Target="/ppt/notesMasters/notesMaster1.xml" Id="R72add1e3a1bf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26f766b2a1472b" /><Relationship Type="http://schemas.openxmlformats.org/officeDocument/2006/relationships/notesMaster" Target="/ppt/notesMasters/notesMaster1.xml" Id="R2261410d14b542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74f79915c6418b" /><Relationship Type="http://schemas.openxmlformats.org/officeDocument/2006/relationships/notesMaster" Target="/ppt/notesMasters/notesMaster1.xml" Id="Rc22308892060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fe76a3b0c14099" /><Relationship Type="http://schemas.openxmlformats.org/officeDocument/2006/relationships/notesMaster" Target="/ppt/notesMasters/notesMaster1.xml" Id="R88fdc53e6286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5506b00d64fb2" /><Relationship Type="http://schemas.openxmlformats.org/officeDocument/2006/relationships/notesMaster" Target="/ppt/notesMasters/notesMaster1.xml" Id="R9474a3eeafa042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5985740b1d4961" /><Relationship Type="http://schemas.openxmlformats.org/officeDocument/2006/relationships/notesMaster" Target="/ppt/notesMasters/notesMaster1.xml" Id="R5d24913728b943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e391359df648a1" /><Relationship Type="http://schemas.openxmlformats.org/officeDocument/2006/relationships/notesMaster" Target="/ppt/notesMasters/notesMaster1.xml" Id="R5350955fae304c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d945ad8eb4415" /><Relationship Type="http://schemas.openxmlformats.org/officeDocument/2006/relationships/notesMaster" Target="/ppt/notesMasters/notesMaster1.xml" Id="R43a830c3b3084a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afdb75e5814b5e" /><Relationship Type="http://schemas.openxmlformats.org/officeDocument/2006/relationships/notesMaster" Target="/ppt/notesMasters/notesMaster1.xml" Id="Rcccd94476b3948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c120563b5940df" /><Relationship Type="http://schemas.openxmlformats.org/officeDocument/2006/relationships/notesMaster" Target="/ppt/notesMasters/notesMaster1.xml" Id="Rdbea203013cf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41604901124d3e" /><Relationship Type="http://schemas.openxmlformats.org/officeDocument/2006/relationships/notesMaster" Target="/ppt/notesMasters/notesMaster1.xml" Id="R42c5571e3c3246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26868f87d94484" /><Relationship Type="http://schemas.openxmlformats.org/officeDocument/2006/relationships/notesMaster" Target="/ppt/notesMasters/notesMaster1.xml" Id="R0881cc4cda09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用户提供的《智拓 · 商机作战助手.pptx》及优化说明。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522e6ed4e45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f77277936c4f8f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64402a81964ea4" /><Relationship Type="http://schemas.openxmlformats.org/officeDocument/2006/relationships/slideLayout" Target="/ppt/slideLayouts/slideLayout1.xml" Id="R6888023f95604b5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ecd3b559a5a4044" /><Relationship Type="http://schemas.openxmlformats.org/officeDocument/2006/relationships/slideLayout" Target="/ppt/slideLayouts/slideLayout2.xml" Id="Rc89170cfdd7f482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8023f95604b51"/>
  </p:sldLayoutId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89170cfdd7f482e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Masters/theme/theme3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44896c12b4b36" /><Relationship Type="http://schemas.openxmlformats.org/officeDocument/2006/relationships/image" Target="/ppt/media/image.png" Id="R06664c05c0e24393" /><Relationship Type="http://schemas.openxmlformats.org/officeDocument/2006/relationships/image" Target="/ppt/media/image2.png" Id="R4ecc8bfb45ad4a34" /><Relationship Type="http://schemas.openxmlformats.org/officeDocument/2006/relationships/notesSlide" Target="/ppt/notesSlides/notesSlide1.xml" Id="R47e713d000b443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9b14c43c4a08" /><Relationship Type="http://schemas.openxmlformats.org/officeDocument/2006/relationships/image" Target="/ppt/media/image3.png" Id="R94b987b4c6294b87" /><Relationship Type="http://schemas.openxmlformats.org/officeDocument/2006/relationships/notesSlide" Target="/ppt/notesSlides/notesSlide2.xml" Id="Rca6b363d2ca84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181f1a2ba46db" /><Relationship Type="http://schemas.openxmlformats.org/officeDocument/2006/relationships/image" Target="/ppt/media/image4.png" Id="R16e9664d64004008" /><Relationship Type="http://schemas.openxmlformats.org/officeDocument/2006/relationships/notesSlide" Target="/ppt/notesSlides/notesSlide3.xml" Id="R8a723206aec6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feb0a592e4bed" /><Relationship Type="http://schemas.openxmlformats.org/officeDocument/2006/relationships/image" Target="/ppt/media/image5.png" Id="Rac024b642be24a20" /><Relationship Type="http://schemas.openxmlformats.org/officeDocument/2006/relationships/notesSlide" Target="/ppt/notesSlides/notesSlide4.xml" Id="Rce6bd9390231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8445816a94714" /><Relationship Type="http://schemas.openxmlformats.org/officeDocument/2006/relationships/image" Target="/ppt/media/image6.png" Id="Rff17d72ea3864e18" /><Relationship Type="http://schemas.openxmlformats.org/officeDocument/2006/relationships/notesSlide" Target="/ppt/notesSlides/notesSlide5.xml" Id="R1db444de479546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f5d68ce144b8" /><Relationship Type="http://schemas.openxmlformats.org/officeDocument/2006/relationships/image" Target="/ppt/media/image7.png" Id="Rcec32d50139347d6" /><Relationship Type="http://schemas.openxmlformats.org/officeDocument/2006/relationships/notesSlide" Target="/ppt/notesSlides/notesSlide6.xml" Id="Rd1ecd50eb43b45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10121070b4352" /><Relationship Type="http://schemas.openxmlformats.org/officeDocument/2006/relationships/image" Target="/ppt/media/image8.png" Id="R48194f2e8a794005" /><Relationship Type="http://schemas.openxmlformats.org/officeDocument/2006/relationships/notesSlide" Target="/ppt/notesSlides/notesSlide7.xml" Id="Re3531601c5df40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21ebfaa46486f" /><Relationship Type="http://schemas.openxmlformats.org/officeDocument/2006/relationships/image" Target="/ppt/media/image9.png" Id="R26985737dab94787" /><Relationship Type="http://schemas.openxmlformats.org/officeDocument/2006/relationships/notesSlide" Target="/ppt/notesSlides/notesSlide8.xml" Id="R51c36269f2ff4e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36f1d2444426" /><Relationship Type="http://schemas.openxmlformats.org/officeDocument/2006/relationships/image" Target="/ppt/media/image10.png" Id="Rc094ac425775408f" /><Relationship Type="http://schemas.openxmlformats.org/officeDocument/2006/relationships/notesSlide" Target="/ppt/notesSlides/notesSlide9.xml" Id="R6838de1c1ba242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13ef2b7284622" /><Relationship Type="http://schemas.openxmlformats.org/officeDocument/2006/relationships/image" Target="/ppt/media/image11.png" Id="R43abbfe508994102" /><Relationship Type="http://schemas.openxmlformats.org/officeDocument/2006/relationships/notesSlide" Target="/ppt/notesSlides/notesSlide10.xml" Id="Re10cd0442bfb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6c854df4f48cc" /><Relationship Type="http://schemas.openxmlformats.org/officeDocument/2006/relationships/image" Target="/ppt/media/image12.png" Id="R611c6d3b167746ea" /><Relationship Type="http://schemas.openxmlformats.org/officeDocument/2006/relationships/notesSlide" Target="/ppt/notesSlides/notesSlide11.xml" Id="R22dc51e72de94f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aed9684b74e41" /><Relationship Type="http://schemas.openxmlformats.org/officeDocument/2006/relationships/image" Target="/ppt/media/image13.png" Id="Rda7b72380fc54bf5" /><Relationship Type="http://schemas.openxmlformats.org/officeDocument/2006/relationships/notesSlide" Target="/ppt/notesSlides/notesSlide12.xml" Id="Rb42cb811037742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13a1236ed4687" /><Relationship Type="http://schemas.openxmlformats.org/officeDocument/2006/relationships/image" Target="/ppt/media/image14.png" Id="Rf61a30ced5894d15" /><Relationship Type="http://schemas.openxmlformats.org/officeDocument/2006/relationships/notesSlide" Target="/ppt/notesSlides/notesSlide13.xml" Id="R0375db049dc940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6b93bba3d4116" /><Relationship Type="http://schemas.openxmlformats.org/officeDocument/2006/relationships/image" Target="/ppt/media/image15.png" Id="Rde2d1a68bd10467f" /><Relationship Type="http://schemas.openxmlformats.org/officeDocument/2006/relationships/notesSlide" Target="/ppt/notesSlides/notesSlide14.xml" Id="R47aa1825757a45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89b9adac4065" /><Relationship Type="http://schemas.openxmlformats.org/officeDocument/2006/relationships/image" Target="/ppt/media/image16.png" Id="Re8e175cd58d544be" /><Relationship Type="http://schemas.openxmlformats.org/officeDocument/2006/relationships/image" Target="/ppt/media/image17.png" Id="R2f15cea2b0064ea8" /><Relationship Type="http://schemas.openxmlformats.org/officeDocument/2006/relationships/notesSlide" Target="/ppt/notesSlides/notesSlide15.xml" Id="Rd130310e1d91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64c05c0e243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wash">
            <a:extLst xmlns:a="http://schemas.openxmlformats.org/drawingml/2006/main">
              <a:ext uri="{FF2B5EF4-FFF2-40B4-BE49-F238E27FC236}">
                <a16:creationId xmlns:a16="http://schemas.microsoft.com/office/drawing/2014/main" id="{DE671C6C-7887-46FC-AF43-39FD6290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wash-fade">
            <a:extLst xmlns:a="http://schemas.openxmlformats.org/drawingml/2006/main">
              <a:ext uri="{FF2B5EF4-FFF2-40B4-BE49-F238E27FC236}">
                <a16:creationId xmlns:a16="http://schemas.microsoft.com/office/drawing/2014/main" id="{90E703E3-07BF-407E-88B9-12CE073D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F"/>
              </a:gs>
              <a:gs pos="100000">
                <a:srgbClr val="F8FBF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c8bfb45ad4a34"/>
          <a:stretch xmlns:a="http://schemas.openxmlformats.org/drawingml/2006/main"/>
        </p:blipFill>
        <p:spPr>
          <a:xfrm xmlns:a="http://schemas.openxmlformats.org/drawingml/2006/main">
            <a:off x="267805" y="190500"/>
            <a:ext cx="1293191" cy="400050"/>
          </a:xfrm>
          <a:prstGeom xmlns:a="http://schemas.openxmlformats.org/drawingml/2006/main" prst="rect">
            <a:avLst/>
          </a:prstGeom>
        </p:spPr>
      </p:pic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03DDE90-4DE0-4E6A-A120-4686E8D5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ZHITUO · AI OPPORTUNITY OPS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1CF2EB-349D-4EC0-9ECA-AE9CDE1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4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智拓 · 商机作战助手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649E69DE-A22B-4A15-9171-DA669D8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17D282-EEF9-4564-B1F2-2F0E054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7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商机挖掘智能体  ｜  AI 驱动的政企商机经营管理系统</a:t>
            </a:r>
          </a:p>
        </p:txBody>
      </p:sp>
      <p:sp>
        <p:nvSpPr>
          <p:cNvPr id="9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9A04D221-0276-4582-9674-4BE4441A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商机不遗漏  ·  拜访不重复  ·  拓客更高效</a:t>
            </a:r>
          </a:p>
        </p:txBody>
      </p:sp>
      <p:sp>
        <p:nvSpPr>
          <p:cNvPr id="10" name="cover-ai">
            <a:extLst xmlns:a="http://schemas.openxmlformats.org/drawingml/2006/main">
              <a:ext uri="{FF2B5EF4-FFF2-40B4-BE49-F238E27FC236}">
                <a16:creationId xmlns:a16="http://schemas.microsoft.com/office/drawing/2014/main" id="{6B533A64-AED0-4876-A57C-1E944C64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 驱动</a:t>
            </a:r>
          </a:p>
        </p:txBody>
      </p:sp>
      <p:sp>
        <p:nvSpPr>
          <p:cNvPr id="11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FA1922AC-4F98-4BFC-92DB-C873E77A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汇报：第四组  ·  主讲：罗雅丽</a:t>
            </a:r>
          </a:p>
        </p:txBody>
      </p:sp>
    </p:spTree>
    <p:extLst>
      <p:ext uri="{BB962C8B-B14F-4D97-AF65-F5344CB8AC3E}">
        <p14:creationId xmlns:p14="http://schemas.microsoft.com/office/powerpoint/2010/main" val="1927064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2">
            <a:extLst xmlns:a="http://schemas.openxmlformats.org/drawingml/2006/main">
              <a:ext uri="{FF2B5EF4-FFF2-40B4-BE49-F238E27FC236}">
                <a16:creationId xmlns:a16="http://schemas.microsoft.com/office/drawing/2014/main" id="{162E13E6-759A-43AF-997A-F97C12F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PRODUCT · 产品介绍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261C429-01FF-4880-84F6-9532329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让商机从发现到转化形成一条经营闭环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E148F32-1022-4C75-ADF9-ED652A8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987b4c6294b87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B596DF33-26DF-44FB-9347-BFBA8DB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6" name="definition">
            <a:extLst xmlns:a="http://schemas.openxmlformats.org/drawingml/2006/main">
              <a:ext uri="{FF2B5EF4-FFF2-40B4-BE49-F238E27FC236}">
                <a16:creationId xmlns:a16="http://schemas.microsoft.com/office/drawing/2014/main" id="{6CB1239A-DF41-4965-A64A-4A9C2AC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面向政企市场的 AI 驱动型商机智能挖掘与经营管理系统</a:t>
            </a:r>
          </a:p>
        </p:txBody>
      </p:sp>
      <p:sp>
        <p:nvSpPr>
          <p:cNvPr id="7" name="definition-note">
            <a:extLst xmlns:a="http://schemas.openxmlformats.org/drawingml/2006/main">
              <a:ext uri="{FF2B5EF4-FFF2-40B4-BE49-F238E27FC236}">
                <a16:creationId xmlns:a16="http://schemas.microsoft.com/office/drawing/2014/main" id="{BE9789FF-731D-4E73-A444-90F7E6FC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服务一线客户经理与各级管理者，融合组织架构、CRM 流程与 AI 能力。</a:t>
            </a:r>
          </a:p>
        </p:txBody>
      </p:sp>
      <p:sp>
        <p:nvSpPr>
          <p:cNvPr id="8" name="cap-0">
            <a:extLst xmlns:a="http://schemas.openxmlformats.org/drawingml/2006/main">
              <a:ext uri="{FF2B5EF4-FFF2-40B4-BE49-F238E27FC236}">
                <a16:creationId xmlns:a16="http://schemas.microsoft.com/office/drawing/2014/main" id="{C3051C12-34B3-472B-9160-B8C0914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ap-dot-0">
            <a:extLst xmlns:a="http://schemas.openxmlformats.org/drawingml/2006/main">
              <a:ext uri="{FF2B5EF4-FFF2-40B4-BE49-F238E27FC236}">
                <a16:creationId xmlns:a16="http://schemas.microsoft.com/office/drawing/2014/main" id="{46C09F2E-1965-4430-8764-025B73E7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10" name="cap-title-0">
            <a:extLst xmlns:a="http://schemas.openxmlformats.org/drawingml/2006/main">
              <a:ext uri="{FF2B5EF4-FFF2-40B4-BE49-F238E27FC236}">
                <a16:creationId xmlns:a16="http://schemas.microsoft.com/office/drawing/2014/main" id="{F88B1BEB-9B2F-4088-B481-60861FA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自动发现</a:t>
            </a:r>
          </a:p>
        </p:txBody>
      </p:sp>
      <p:sp>
        <p:nvSpPr>
          <p:cNvPr id="11" name="cap-desc-0">
            <a:extLst xmlns:a="http://schemas.openxmlformats.org/drawingml/2006/main">
              <a:ext uri="{FF2B5EF4-FFF2-40B4-BE49-F238E27FC236}">
                <a16:creationId xmlns:a16="http://schemas.microsoft.com/office/drawing/2014/main" id="{3E53BA83-BA34-4534-8741-0673DAF9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766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从经营数据中持续发现潜在商机</a:t>
            </a:r>
          </a:p>
        </p:txBody>
      </p:sp>
      <p:sp>
        <p:nvSpPr>
          <p:cNvPr id="12" name="cap-1">
            <a:extLst xmlns:a="http://schemas.openxmlformats.org/drawingml/2006/main">
              <a:ext uri="{FF2B5EF4-FFF2-40B4-BE49-F238E27FC236}">
                <a16:creationId xmlns:a16="http://schemas.microsoft.com/office/drawing/2014/main" id="{7CCA158D-2D53-4180-8A0E-34CCB23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p-dot-1">
            <a:extLst xmlns:a="http://schemas.openxmlformats.org/drawingml/2006/main">
              <a:ext uri="{FF2B5EF4-FFF2-40B4-BE49-F238E27FC236}">
                <a16:creationId xmlns:a16="http://schemas.microsoft.com/office/drawing/2014/main" id="{63336B05-310C-4BBA-A584-5717A75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14" name="cap-title-1">
            <a:extLst xmlns:a="http://schemas.openxmlformats.org/drawingml/2006/main">
              <a:ext uri="{FF2B5EF4-FFF2-40B4-BE49-F238E27FC236}">
                <a16:creationId xmlns:a16="http://schemas.microsoft.com/office/drawing/2014/main" id="{BCB74D73-E668-42BD-BAEF-9C46648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智能评分</a:t>
            </a:r>
          </a:p>
        </p:txBody>
      </p:sp>
      <p:sp>
        <p:nvSpPr>
          <p:cNvPr id="15" name="cap-desc-1">
            <a:extLst xmlns:a="http://schemas.openxmlformats.org/drawingml/2006/main">
              <a:ext uri="{FF2B5EF4-FFF2-40B4-BE49-F238E27FC236}">
                <a16:creationId xmlns:a16="http://schemas.microsoft.com/office/drawing/2014/main" id="{D48D3EC9-6E69-49B7-BE34-BDF3BF8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766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形成清晰的客户与商机优先级</a:t>
            </a:r>
          </a:p>
        </p:txBody>
      </p:sp>
      <p:sp>
        <p:nvSpPr>
          <p:cNvPr id="16" name="cap-2">
            <a:extLst xmlns:a="http://schemas.openxmlformats.org/drawingml/2006/main">
              <a:ext uri="{FF2B5EF4-FFF2-40B4-BE49-F238E27FC236}">
                <a16:creationId xmlns:a16="http://schemas.microsoft.com/office/drawing/2014/main" id="{064020DA-9FCE-4D5E-A117-A5C452B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33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cap-dot-2">
            <a:extLst xmlns:a="http://schemas.openxmlformats.org/drawingml/2006/main">
              <a:ext uri="{FF2B5EF4-FFF2-40B4-BE49-F238E27FC236}">
                <a16:creationId xmlns:a16="http://schemas.microsoft.com/office/drawing/2014/main" id="{D0D34ED7-A294-4790-8EE9-8E6F897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18" name="cap-title-2">
            <a:extLst xmlns:a="http://schemas.openxmlformats.org/drawingml/2006/main">
              <a:ext uri="{FF2B5EF4-FFF2-40B4-BE49-F238E27FC236}">
                <a16:creationId xmlns:a16="http://schemas.microsoft.com/office/drawing/2014/main" id="{4DFD7D4F-9688-4A7F-BC70-AE45CCE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高效转化</a:t>
            </a:r>
          </a:p>
        </p:txBody>
      </p:sp>
      <p:sp>
        <p:nvSpPr>
          <p:cNvPr id="19" name="cap-desc-2">
            <a:extLst xmlns:a="http://schemas.openxmlformats.org/drawingml/2006/main">
              <a:ext uri="{FF2B5EF4-FFF2-40B4-BE49-F238E27FC236}">
                <a16:creationId xmlns:a16="http://schemas.microsoft.com/office/drawing/2014/main" id="{B98FD684-5E19-47E2-9829-2F0A1B4D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766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派发、拜访、跟进与沉淀一体化</a:t>
            </a:r>
          </a:p>
        </p:txBody>
      </p:sp>
      <p:sp>
        <p:nvSpPr>
          <p:cNvPr id="20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6E79610B-8D00-4314-8E7C-A73FA1C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9107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DDEBFF"/>
            </a:solidFill>
            <a:prstDash val="solid"/>
          </a:ln>
        </p:spPr>
      </p:sp>
      <p:sp>
        <p:nvSpPr>
          <p:cNvPr id="2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88295322-3705-439D-8056-6376403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2" name="flow-text-0">
            <a:extLst xmlns:a="http://schemas.openxmlformats.org/drawingml/2006/main">
              <a:ext uri="{FF2B5EF4-FFF2-40B4-BE49-F238E27FC236}">
                <a16:creationId xmlns:a16="http://schemas.microsoft.com/office/drawing/2014/main" id="{FA55EA8C-5BB3-4CE3-9F0C-EB082D1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商机发现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8AAA97E-0B5A-4732-8829-CFF8FF3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9107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DDEBFF"/>
            </a:solidFill>
            <a:prstDash val="solid"/>
          </a:ln>
        </p:spPr>
      </p:sp>
      <p:sp>
        <p:nvSpPr>
          <p:cNvPr id="24" name="flow-node-1">
            <a:extLst xmlns:a="http://schemas.openxmlformats.org/drawingml/2006/main">
              <a:ext uri="{FF2B5EF4-FFF2-40B4-BE49-F238E27FC236}">
                <a16:creationId xmlns:a16="http://schemas.microsoft.com/office/drawing/2014/main" id="{FCCBE36B-7F01-41F1-9AA2-CDE577D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958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9525">
            <a:solidFill>
              <a:srgbClr val="2263E6"/>
            </a:solidFill>
            <a:prstDash val="solid"/>
          </a:ln>
        </p:spPr>
      </p:sp>
      <p:sp>
        <p:nvSpPr>
          <p:cNvPr id="25" name="flow-text-1">
            <a:extLst xmlns:a="http://schemas.openxmlformats.org/drawingml/2006/main">
              <a:ext uri="{FF2B5EF4-FFF2-40B4-BE49-F238E27FC236}">
                <a16:creationId xmlns:a16="http://schemas.microsoft.com/office/drawing/2014/main" id="{4FEF00D6-6023-48A0-A2E7-2237FA9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 评分</a:t>
            </a:r>
          </a:p>
        </p:txBody>
      </p:sp>
      <p:sp>
        <p:nvSpPr>
          <p:cNvPr id="2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98D110E8-3BEC-447C-842B-4A02212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9107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DDEBFF"/>
            </a:solidFill>
            <a:prstDash val="solid"/>
          </a:ln>
        </p:spPr>
      </p:sp>
      <p:sp>
        <p:nvSpPr>
          <p:cNvPr id="2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EA7F3B4A-67DD-47B6-8425-D8FF8570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8" name="flow-text-2">
            <a:extLst xmlns:a="http://schemas.openxmlformats.org/drawingml/2006/main">
              <a:ext uri="{FF2B5EF4-FFF2-40B4-BE49-F238E27FC236}">
                <a16:creationId xmlns:a16="http://schemas.microsoft.com/office/drawing/2014/main" id="{3C3A6F6A-4493-4CBA-9544-70221E5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智能派发</a:t>
            </a:r>
          </a:p>
        </p:txBody>
      </p:sp>
      <p:sp>
        <p:nvSpPr>
          <p:cNvPr id="2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0F5EB11-450D-4E25-BF6C-FC8A24DE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9107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solidFill>
              <a:srgbClr val="DDEBFF"/>
            </a:solidFill>
            <a:prstDash val="solid"/>
          </a:ln>
        </p:spPr>
      </p:sp>
      <p:sp>
        <p:nvSpPr>
          <p:cNvPr id="3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F1BB86A-90D5-45EA-9F15-FC8D863A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31" name="flow-text-3">
            <a:extLst xmlns:a="http://schemas.openxmlformats.org/drawingml/2006/main">
              <a:ext uri="{FF2B5EF4-FFF2-40B4-BE49-F238E27FC236}">
                <a16:creationId xmlns:a16="http://schemas.microsoft.com/office/drawing/2014/main" id="{3AFBBA7C-8617-430F-9E8F-1D86B6DA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客户拜访</a:t>
            </a:r>
          </a:p>
        </p:txBody>
      </p:sp>
      <p:sp>
        <p:nvSpPr>
          <p:cNvPr id="3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EEDD9CC1-32B3-410C-91C8-840969A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958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33" name="flow-text-4">
            <a:extLst xmlns:a="http://schemas.openxmlformats.org/drawingml/2006/main">
              <a:ext uri="{FF2B5EF4-FFF2-40B4-BE49-F238E27FC236}">
                <a16:creationId xmlns:a16="http://schemas.microsoft.com/office/drawing/2014/main" id="{4A219EF2-EE1D-4433-83C1-71583A0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转化沉淀</a:t>
            </a:r>
          </a:p>
        </p:txBody>
      </p:sp>
      <p:sp>
        <p:nvSpPr>
          <p:cNvPr id="34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5CB59806-83FE-496F-B35E-4F6DCED2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自动发现 → 智能评分 → 高效转化</a:t>
            </a:r>
          </a:p>
        </p:txBody>
      </p:sp>
    </p:spTree>
    <p:extLst>
      <p:ext uri="{BB962C8B-B14F-4D97-AF65-F5344CB8AC3E}">
        <p14:creationId xmlns:p14="http://schemas.microsoft.com/office/powerpoint/2010/main" val="445871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-3">
            <a:extLst xmlns:a="http://schemas.openxmlformats.org/drawingml/2006/main">
              <a:ext uri="{FF2B5EF4-FFF2-40B4-BE49-F238E27FC236}">
                <a16:creationId xmlns:a16="http://schemas.microsoft.com/office/drawing/2014/main" id="{2D5F07DF-749F-4734-899D-96E908D9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TEAM · 第四组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A616D33-5C5F-47EA-B6C1-E66FE3F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10 人团队覆盖产品从研究到路演的完整链路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95C0EA8-CABD-4B4E-B911-03C3A89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9664d64004008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AD64084-968A-48F0-A433-C94C1133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6" name="team-thesis">
            <a:extLst xmlns:a="http://schemas.openxmlformats.org/drawingml/2006/main">
              <a:ext uri="{FF2B5EF4-FFF2-40B4-BE49-F238E27FC236}">
                <a16:creationId xmlns:a16="http://schemas.microsoft.com/office/drawing/2014/main" id="{B1A694E3-5619-4B5A-A954-1B00541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一支跨职能小队，把研究、产品、AI、研发与呈现能力放在同一条交付链上。</a:t>
            </a:r>
          </a:p>
        </p:txBody>
      </p:sp>
      <p:sp>
        <p:nvSpPr>
          <p:cNvPr id="7" name="team-0">
            <a:extLst xmlns:a="http://schemas.openxmlformats.org/drawingml/2006/main">
              <a:ext uri="{FF2B5EF4-FFF2-40B4-BE49-F238E27FC236}">
                <a16:creationId xmlns:a16="http://schemas.microsoft.com/office/drawing/2014/main" id="{515E2CA7-EBE6-4C86-B641-8E1282A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am-dot-0">
            <a:extLst xmlns:a="http://schemas.openxmlformats.org/drawingml/2006/main">
              <a:ext uri="{FF2B5EF4-FFF2-40B4-BE49-F238E27FC236}">
                <a16:creationId xmlns:a16="http://schemas.microsoft.com/office/drawing/2014/main" id="{CCCCA320-AFE7-4E8B-8A54-6404E178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9" name="team-role-0">
            <a:extLst xmlns:a="http://schemas.openxmlformats.org/drawingml/2006/main">
              <a:ext uri="{FF2B5EF4-FFF2-40B4-BE49-F238E27FC236}">
                <a16:creationId xmlns:a16="http://schemas.microsoft.com/office/drawing/2014/main" id="{D4A017E6-D526-4C35-9AD8-E5851669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产品</a:t>
            </a:r>
          </a:p>
        </p:txBody>
      </p:sp>
      <p:sp>
        <p:nvSpPr>
          <p:cNvPr id="10" name="team-member-0">
            <a:extLst xmlns:a="http://schemas.openxmlformats.org/drawingml/2006/main">
              <a:ext uri="{FF2B5EF4-FFF2-40B4-BE49-F238E27FC236}">
                <a16:creationId xmlns:a16="http://schemas.microsoft.com/office/drawing/2014/main" id="{B30CF3A6-41F8-4E23-8EA0-1929177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刘嘉璐</a:t>
            </a:r>
          </a:p>
        </p:txBody>
      </p:sp>
      <p:sp>
        <p:nvSpPr>
          <p:cNvPr id="11" name="team-1">
            <a:extLst xmlns:a="http://schemas.openxmlformats.org/drawingml/2006/main">
              <a:ext uri="{FF2B5EF4-FFF2-40B4-BE49-F238E27FC236}">
                <a16:creationId xmlns:a16="http://schemas.microsoft.com/office/drawing/2014/main" id="{865B2B3E-B528-4FED-8F6D-93942CE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am-dot-1">
            <a:extLst xmlns:a="http://schemas.openxmlformats.org/drawingml/2006/main">
              <a:ext uri="{FF2B5EF4-FFF2-40B4-BE49-F238E27FC236}">
                <a16:creationId xmlns:a16="http://schemas.microsoft.com/office/drawing/2014/main" id="{02C90FA7-FD0E-441B-95FF-4E1C1C7A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13" name="team-role-1">
            <a:extLst xmlns:a="http://schemas.openxmlformats.org/drawingml/2006/main">
              <a:ext uri="{FF2B5EF4-FFF2-40B4-BE49-F238E27FC236}">
                <a16:creationId xmlns:a16="http://schemas.microsoft.com/office/drawing/2014/main" id="{646A417F-586B-4A04-ABFB-5EB5124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用户研究</a:t>
            </a:r>
          </a:p>
        </p:txBody>
      </p:sp>
      <p:sp>
        <p:nvSpPr>
          <p:cNvPr id="14" name="team-member-1">
            <a:extLst xmlns:a="http://schemas.openxmlformats.org/drawingml/2006/main">
              <a:ext uri="{FF2B5EF4-FFF2-40B4-BE49-F238E27FC236}">
                <a16:creationId xmlns:a16="http://schemas.microsoft.com/office/drawing/2014/main" id="{2C738D1C-9F02-4D14-B369-88C0036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苏芷莹</a:t>
            </a:r>
          </a:p>
        </p:txBody>
      </p:sp>
      <p:sp>
        <p:nvSpPr>
          <p:cNvPr id="15" name="team-2">
            <a:extLst xmlns:a="http://schemas.openxmlformats.org/drawingml/2006/main">
              <a:ext uri="{FF2B5EF4-FFF2-40B4-BE49-F238E27FC236}">
                <a16:creationId xmlns:a16="http://schemas.microsoft.com/office/drawing/2014/main" id="{8D76E8D8-18F1-44AD-9096-A87DCDFB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am-dot-2">
            <a:extLst xmlns:a="http://schemas.openxmlformats.org/drawingml/2006/main">
              <a:ext uri="{FF2B5EF4-FFF2-40B4-BE49-F238E27FC236}">
                <a16:creationId xmlns:a16="http://schemas.microsoft.com/office/drawing/2014/main" id="{24FE357B-B880-4428-BCB2-563DF52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17" name="team-role-2">
            <a:extLst xmlns:a="http://schemas.openxmlformats.org/drawingml/2006/main">
              <a:ext uri="{FF2B5EF4-FFF2-40B4-BE49-F238E27FC236}">
                <a16:creationId xmlns:a16="http://schemas.microsoft.com/office/drawing/2014/main" id="{E17B6235-8499-4794-BA98-E2163F9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策略</a:t>
            </a:r>
          </a:p>
        </p:txBody>
      </p:sp>
      <p:sp>
        <p:nvSpPr>
          <p:cNvPr id="18" name="team-member-2">
            <a:extLst xmlns:a="http://schemas.openxmlformats.org/drawingml/2006/main">
              <a:ext uri="{FF2B5EF4-FFF2-40B4-BE49-F238E27FC236}">
                <a16:creationId xmlns:a16="http://schemas.microsoft.com/office/drawing/2014/main" id="{DFBE5D68-C494-4830-BC0A-A1B9AC2E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王浩</a:t>
            </a:r>
          </a:p>
        </p:txBody>
      </p:sp>
      <p:sp>
        <p:nvSpPr>
          <p:cNvPr id="19" name="team-3">
            <a:extLst xmlns:a="http://schemas.openxmlformats.org/drawingml/2006/main">
              <a:ext uri="{FF2B5EF4-FFF2-40B4-BE49-F238E27FC236}">
                <a16:creationId xmlns:a16="http://schemas.microsoft.com/office/drawing/2014/main" id="{6DE17350-6EC3-44FD-A224-75A08F9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am-dot-3">
            <a:extLst xmlns:a="http://schemas.openxmlformats.org/drawingml/2006/main">
              <a:ext uri="{FF2B5EF4-FFF2-40B4-BE49-F238E27FC236}">
                <a16:creationId xmlns:a16="http://schemas.microsoft.com/office/drawing/2014/main" id="{761D30CC-4F76-45AE-9C2E-BCD12772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</a:t>
            </a:r>
          </a:p>
        </p:txBody>
      </p:sp>
      <p:sp>
        <p:nvSpPr>
          <p:cNvPr id="21" name="team-role-3">
            <a:extLst xmlns:a="http://schemas.openxmlformats.org/drawingml/2006/main">
              <a:ext uri="{FF2B5EF4-FFF2-40B4-BE49-F238E27FC236}">
                <a16:creationId xmlns:a16="http://schemas.microsoft.com/office/drawing/2014/main" id="{86F8A186-94A6-4C2D-8837-9CDC79A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1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工作流研发</a:t>
            </a:r>
          </a:p>
        </p:txBody>
      </p:sp>
      <p:sp>
        <p:nvSpPr>
          <p:cNvPr id="22" name="team-member-3">
            <a:extLst xmlns:a="http://schemas.openxmlformats.org/drawingml/2006/main">
              <a:ext uri="{FF2B5EF4-FFF2-40B4-BE49-F238E27FC236}">
                <a16:creationId xmlns:a16="http://schemas.microsoft.com/office/drawing/2014/main" id="{A5A07C7F-19A9-4791-A78D-38D71A2D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饶定杰</a:t>
            </a:r>
          </a:p>
        </p:txBody>
      </p:sp>
      <p:sp>
        <p:nvSpPr>
          <p:cNvPr id="23" name="team-4">
            <a:extLst xmlns:a="http://schemas.openxmlformats.org/drawingml/2006/main">
              <a:ext uri="{FF2B5EF4-FFF2-40B4-BE49-F238E27FC236}">
                <a16:creationId xmlns:a16="http://schemas.microsoft.com/office/drawing/2014/main" id="{C62F3932-2B6B-48E6-974E-785688D8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team-dot-4">
            <a:extLst xmlns:a="http://schemas.openxmlformats.org/drawingml/2006/main">
              <a:ext uri="{FF2B5EF4-FFF2-40B4-BE49-F238E27FC236}">
                <a16:creationId xmlns:a16="http://schemas.microsoft.com/office/drawing/2014/main" id="{02854C61-DA27-4678-A3C7-A08AF503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05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05</a:t>
            </a:r>
          </a:p>
        </p:txBody>
      </p:sp>
      <p:sp>
        <p:nvSpPr>
          <p:cNvPr id="25" name="team-role-4">
            <a:extLst xmlns:a="http://schemas.openxmlformats.org/drawingml/2006/main">
              <a:ext uri="{FF2B5EF4-FFF2-40B4-BE49-F238E27FC236}">
                <a16:creationId xmlns:a16="http://schemas.microsoft.com/office/drawing/2014/main" id="{4C98AC65-F3F2-44A4-8825-243AB9B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测试质检</a:t>
            </a:r>
          </a:p>
        </p:txBody>
      </p:sp>
      <p:sp>
        <p:nvSpPr>
          <p:cNvPr id="26" name="team-member-4">
            <a:extLst xmlns:a="http://schemas.openxmlformats.org/drawingml/2006/main">
              <a:ext uri="{FF2B5EF4-FFF2-40B4-BE49-F238E27FC236}">
                <a16:creationId xmlns:a16="http://schemas.microsoft.com/office/drawing/2014/main" id="{EC2F9336-60C2-4ACA-BDB9-88D7A877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陶怡臣</a:t>
            </a:r>
          </a:p>
        </p:txBody>
      </p:sp>
      <p:sp>
        <p:nvSpPr>
          <p:cNvPr id="27" name="team-5">
            <a:extLst xmlns:a="http://schemas.openxmlformats.org/drawingml/2006/main">
              <a:ext uri="{FF2B5EF4-FFF2-40B4-BE49-F238E27FC236}">
                <a16:creationId xmlns:a16="http://schemas.microsoft.com/office/drawing/2014/main" id="{D6604B27-9CBF-4787-A71C-5FB2C40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team-dot-5">
            <a:extLst xmlns:a="http://schemas.openxmlformats.org/drawingml/2006/main">
              <a:ext uri="{FF2B5EF4-FFF2-40B4-BE49-F238E27FC236}">
                <a16:creationId xmlns:a16="http://schemas.microsoft.com/office/drawing/2014/main" id="{9416ADA0-7A20-493D-81F9-987A78A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052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06</a:t>
            </a:r>
          </a:p>
        </p:txBody>
      </p:sp>
      <p:sp>
        <p:nvSpPr>
          <p:cNvPr id="29" name="team-role-5">
            <a:extLst xmlns:a="http://schemas.openxmlformats.org/drawingml/2006/main">
              <a:ext uri="{FF2B5EF4-FFF2-40B4-BE49-F238E27FC236}">
                <a16:creationId xmlns:a16="http://schemas.microsoft.com/office/drawing/2014/main" id="{6CF7A9A6-4E3E-4510-9FA6-79EF6D2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1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UI / 交互</a:t>
            </a:r>
          </a:p>
        </p:txBody>
      </p:sp>
      <p:sp>
        <p:nvSpPr>
          <p:cNvPr id="30" name="team-member-5">
            <a:extLst xmlns:a="http://schemas.openxmlformats.org/drawingml/2006/main">
              <a:ext uri="{FF2B5EF4-FFF2-40B4-BE49-F238E27FC236}">
                <a16:creationId xmlns:a16="http://schemas.microsoft.com/office/drawing/2014/main" id="{37FB816D-3C33-429E-B002-FA3CFBE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凌创喆</a:t>
            </a:r>
          </a:p>
        </p:txBody>
      </p:sp>
      <p:sp>
        <p:nvSpPr>
          <p:cNvPr id="31" name="team-6">
            <a:extLst xmlns:a="http://schemas.openxmlformats.org/drawingml/2006/main">
              <a:ext uri="{FF2B5EF4-FFF2-40B4-BE49-F238E27FC236}">
                <a16:creationId xmlns:a16="http://schemas.microsoft.com/office/drawing/2014/main" id="{8F46E778-118C-44FA-9125-0C9C555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team-dot-6">
            <a:extLst xmlns:a="http://schemas.openxmlformats.org/drawingml/2006/main">
              <a:ext uri="{FF2B5EF4-FFF2-40B4-BE49-F238E27FC236}">
                <a16:creationId xmlns:a16="http://schemas.microsoft.com/office/drawing/2014/main" id="{522C7FED-6553-49FB-A0FB-8493B4A4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07</a:t>
            </a:r>
          </a:p>
        </p:txBody>
      </p:sp>
      <p:sp>
        <p:nvSpPr>
          <p:cNvPr id="33" name="team-role-6">
            <a:extLst xmlns:a="http://schemas.openxmlformats.org/drawingml/2006/main">
              <a:ext uri="{FF2B5EF4-FFF2-40B4-BE49-F238E27FC236}">
                <a16:creationId xmlns:a16="http://schemas.microsoft.com/office/drawing/2014/main" id="{F8813C3D-2E86-4784-BAFF-95BB168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文档运营</a:t>
            </a:r>
          </a:p>
        </p:txBody>
      </p:sp>
      <p:sp>
        <p:nvSpPr>
          <p:cNvPr id="34" name="team-member-6">
            <a:extLst xmlns:a="http://schemas.openxmlformats.org/drawingml/2006/main">
              <a:ext uri="{FF2B5EF4-FFF2-40B4-BE49-F238E27FC236}">
                <a16:creationId xmlns:a16="http://schemas.microsoft.com/office/drawing/2014/main" id="{5C06FD71-CBF9-4AEB-953B-25BC0D5F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谢欣坤</a:t>
            </a:r>
          </a:p>
        </p:txBody>
      </p:sp>
      <p:sp>
        <p:nvSpPr>
          <p:cNvPr id="35" name="team-7">
            <a:extLst xmlns:a="http://schemas.openxmlformats.org/drawingml/2006/main">
              <a:ext uri="{FF2B5EF4-FFF2-40B4-BE49-F238E27FC236}">
                <a16:creationId xmlns:a16="http://schemas.microsoft.com/office/drawing/2014/main" id="{23234358-1299-4CD4-BC5B-B5B7E76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team-dot-7">
            <a:extLst xmlns:a="http://schemas.openxmlformats.org/drawingml/2006/main">
              <a:ext uri="{FF2B5EF4-FFF2-40B4-BE49-F238E27FC236}">
                <a16:creationId xmlns:a16="http://schemas.microsoft.com/office/drawing/2014/main" id="{D6959AEA-8556-4D56-B21C-F7AF55E6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62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08</a:t>
            </a:r>
          </a:p>
        </p:txBody>
      </p:sp>
      <p:sp>
        <p:nvSpPr>
          <p:cNvPr id="37" name="team-role-7">
            <a:extLst xmlns:a="http://schemas.openxmlformats.org/drawingml/2006/main">
              <a:ext uri="{FF2B5EF4-FFF2-40B4-BE49-F238E27FC236}">
                <a16:creationId xmlns:a16="http://schemas.microsoft.com/office/drawing/2014/main" id="{DAE9BD4E-7896-4D9C-A592-7A7ACCDA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项目管理</a:t>
            </a:r>
          </a:p>
        </p:txBody>
      </p:sp>
      <p:sp>
        <p:nvSpPr>
          <p:cNvPr id="38" name="team-member-7">
            <a:extLst xmlns:a="http://schemas.openxmlformats.org/drawingml/2006/main">
              <a:ext uri="{FF2B5EF4-FFF2-40B4-BE49-F238E27FC236}">
                <a16:creationId xmlns:a16="http://schemas.microsoft.com/office/drawing/2014/main" id="{31630A49-6D45-491C-8481-3005BE82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57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黄凯</a:t>
            </a:r>
          </a:p>
        </p:txBody>
      </p:sp>
      <p:sp>
        <p:nvSpPr>
          <p:cNvPr id="39" name="team-8">
            <a:extLst xmlns:a="http://schemas.openxmlformats.org/drawingml/2006/main">
              <a:ext uri="{FF2B5EF4-FFF2-40B4-BE49-F238E27FC236}">
                <a16:creationId xmlns:a16="http://schemas.microsoft.com/office/drawing/2014/main" id="{7F2DACD6-C116-4842-8332-C7A74127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333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team-dot-8">
            <a:extLst xmlns:a="http://schemas.openxmlformats.org/drawingml/2006/main">
              <a:ext uri="{FF2B5EF4-FFF2-40B4-BE49-F238E27FC236}">
                <a16:creationId xmlns:a16="http://schemas.microsoft.com/office/drawing/2014/main" id="{F891F853-475D-4F0C-BDBD-3B8EB4A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62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09</a:t>
            </a:r>
          </a:p>
        </p:txBody>
      </p:sp>
      <p:sp>
        <p:nvSpPr>
          <p:cNvPr id="41" name="team-role-8">
            <a:extLst xmlns:a="http://schemas.openxmlformats.org/drawingml/2006/main">
              <a:ext uri="{FF2B5EF4-FFF2-40B4-BE49-F238E27FC236}">
                <a16:creationId xmlns:a16="http://schemas.microsoft.com/office/drawing/2014/main" id="{1B03155F-11B5-479E-B4AB-5B8E36C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路演呈现</a:t>
            </a:r>
          </a:p>
        </p:txBody>
      </p:sp>
      <p:sp>
        <p:nvSpPr>
          <p:cNvPr id="42" name="team-member-8">
            <a:extLst xmlns:a="http://schemas.openxmlformats.org/drawingml/2006/main">
              <a:ext uri="{FF2B5EF4-FFF2-40B4-BE49-F238E27FC236}">
                <a16:creationId xmlns:a16="http://schemas.microsoft.com/office/drawing/2014/main" id="{186B2FAA-22B3-4B24-A741-4DA57BC3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57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向芯瑜 · 罗雅丽</a:t>
            </a:r>
          </a:p>
        </p:txBody>
      </p:sp>
    </p:spTree>
    <p:extLst>
      <p:ext uri="{BB962C8B-B14F-4D97-AF65-F5344CB8AC3E}">
        <p14:creationId xmlns:p14="http://schemas.microsoft.com/office/powerpoint/2010/main" val="1732737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4">
            <a:extLst xmlns:a="http://schemas.openxmlformats.org/drawingml/2006/main">
              <a:ext uri="{FF2B5EF4-FFF2-40B4-BE49-F238E27FC236}">
                <a16:creationId xmlns:a16="http://schemas.microsoft.com/office/drawing/2014/main" id="{F4092F0A-8AA6-46DE-8F8A-FA079994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CONTENTS · 目录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1DCB01-A926-40C0-8DCB-02B49539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五个章节讲清楚智拓如何服务政企商机经营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58249F27-7F70-4A62-BB54-615D7245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24b642be24a20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7EEC723-93AA-4C96-B82B-5CDC2537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04</a:t>
            </a:r>
          </a:p>
        </p:txBody>
      </p:sp>
      <p:sp>
        <p:nvSpPr>
          <p:cNvPr id="6" name="toc-big">
            <a:extLst xmlns:a="http://schemas.openxmlformats.org/drawingml/2006/main">
              <a:ext uri="{FF2B5EF4-FFF2-40B4-BE49-F238E27FC236}">
                <a16:creationId xmlns:a16="http://schemas.microsoft.com/office/drawing/2014/main" id="{13138418-9F35-44F2-82CD-CB6C1E9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99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05</a:t>
            </a:r>
          </a:p>
        </p:txBody>
      </p:sp>
      <p:sp>
        <p:nvSpPr>
          <p:cNvPr id="7" name="toc-label">
            <a:extLst xmlns:a="http://schemas.openxmlformats.org/drawingml/2006/main">
              <a:ext uri="{FF2B5EF4-FFF2-40B4-BE49-F238E27FC236}">
                <a16:creationId xmlns:a16="http://schemas.microsoft.com/office/drawing/2014/main" id="{DA936FFA-95DA-4B75-8503-E4EDBED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PARTS</a:t>
            </a:r>
          </a:p>
        </p:txBody>
      </p:sp>
      <p:sp>
        <p:nvSpPr>
          <p:cNvPr id="8" name="toc-note">
            <a:extLst xmlns:a="http://schemas.openxmlformats.org/drawingml/2006/main">
              <a:ext uri="{FF2B5EF4-FFF2-40B4-BE49-F238E27FC236}">
                <a16:creationId xmlns:a16="http://schemas.microsoft.com/office/drawing/2014/main" id="{715C2012-C11B-4796-BFE5-4B62006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从定位到真实演示</a:t>
            </a:r>
          </a:p>
        </p:txBody>
      </p:sp>
      <p:sp>
        <p:nvSpPr>
          <p:cNvPr id="9" name="toc-line-0">
            <a:extLst xmlns:a="http://schemas.openxmlformats.org/drawingml/2006/main">
              <a:ext uri="{FF2B5EF4-FFF2-40B4-BE49-F238E27FC236}">
                <a16:creationId xmlns:a16="http://schemas.microsoft.com/office/drawing/2014/main" id="{ABC9BE92-3A77-46F1-BA16-53B8978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0" name="toc-num-0">
            <a:extLst xmlns:a="http://schemas.openxmlformats.org/drawingml/2006/main">
              <a:ext uri="{FF2B5EF4-FFF2-40B4-BE49-F238E27FC236}">
                <a16:creationId xmlns:a16="http://schemas.microsoft.com/office/drawing/2014/main" id="{F3D8B7ED-2920-4273-B4F0-3E5184C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11" name="toc-name-0">
            <a:extLst xmlns:a="http://schemas.openxmlformats.org/drawingml/2006/main">
              <a:ext uri="{FF2B5EF4-FFF2-40B4-BE49-F238E27FC236}">
                <a16:creationId xmlns:a16="http://schemas.microsoft.com/office/drawing/2014/main" id="{3F5A45C6-B804-464A-A2BB-0629919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产品定位与用户场景</a:t>
            </a:r>
          </a:p>
        </p:txBody>
      </p:sp>
      <p:sp>
        <p:nvSpPr>
          <p:cNvPr id="12" name="toc-arr-0">
            <a:extLst xmlns:a="http://schemas.openxmlformats.org/drawingml/2006/main">
              <a:ext uri="{FF2B5EF4-FFF2-40B4-BE49-F238E27FC236}">
                <a16:creationId xmlns:a16="http://schemas.microsoft.com/office/drawing/2014/main" id="{34F82D6B-E6AD-46EB-8C1A-D78A263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52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→</a:t>
            </a:r>
          </a:p>
        </p:txBody>
      </p:sp>
      <p:sp>
        <p:nvSpPr>
          <p:cNvPr id="13" name="toc-line-1">
            <a:extLst xmlns:a="http://schemas.openxmlformats.org/drawingml/2006/main">
              <a:ext uri="{FF2B5EF4-FFF2-40B4-BE49-F238E27FC236}">
                <a16:creationId xmlns:a16="http://schemas.microsoft.com/office/drawing/2014/main" id="{04B808EF-C425-4233-931E-007DB7C9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4" name="toc-num-1">
            <a:extLst xmlns:a="http://schemas.openxmlformats.org/drawingml/2006/main">
              <a:ext uri="{FF2B5EF4-FFF2-40B4-BE49-F238E27FC236}">
                <a16:creationId xmlns:a16="http://schemas.microsoft.com/office/drawing/2014/main" id="{AB5BBE8A-3EA4-4AB0-81A6-6FE9434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15" name="toc-name-1">
            <a:extLst xmlns:a="http://schemas.openxmlformats.org/drawingml/2006/main">
              <a:ext uri="{FF2B5EF4-FFF2-40B4-BE49-F238E27FC236}">
                <a16:creationId xmlns:a16="http://schemas.microsoft.com/office/drawing/2014/main" id="{8505765F-1E69-4C85-A712-2DD86497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用户价值</a:t>
            </a:r>
          </a:p>
        </p:txBody>
      </p:sp>
      <p:sp>
        <p:nvSpPr>
          <p:cNvPr id="16" name="toc-arr-1">
            <a:extLst xmlns:a="http://schemas.openxmlformats.org/drawingml/2006/main">
              <a:ext uri="{FF2B5EF4-FFF2-40B4-BE49-F238E27FC236}">
                <a16:creationId xmlns:a16="http://schemas.microsoft.com/office/drawing/2014/main" id="{9B4FA783-EB90-41FC-B6FD-AE32D246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908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→</a:t>
            </a:r>
          </a:p>
        </p:txBody>
      </p:sp>
      <p:sp>
        <p:nvSpPr>
          <p:cNvPr id="17" name="toc-line-2">
            <a:extLst xmlns:a="http://schemas.openxmlformats.org/drawingml/2006/main">
              <a:ext uri="{FF2B5EF4-FFF2-40B4-BE49-F238E27FC236}">
                <a16:creationId xmlns:a16="http://schemas.microsoft.com/office/drawing/2014/main" id="{3AA61523-1A8B-41F9-8733-169E46A4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8" name="toc-num-2">
            <a:extLst xmlns:a="http://schemas.openxmlformats.org/drawingml/2006/main">
              <a:ext uri="{FF2B5EF4-FFF2-40B4-BE49-F238E27FC236}">
                <a16:creationId xmlns:a16="http://schemas.microsoft.com/office/drawing/2014/main" id="{2A09B364-07F4-4EAD-A8F8-32D4CF15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19" name="toc-name-2">
            <a:extLst xmlns:a="http://schemas.openxmlformats.org/drawingml/2006/main">
              <a:ext uri="{FF2B5EF4-FFF2-40B4-BE49-F238E27FC236}">
                <a16:creationId xmlns:a16="http://schemas.microsoft.com/office/drawing/2014/main" id="{8056B22F-1EDE-42D8-BB89-0EE8EF6F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核心功能</a:t>
            </a:r>
          </a:p>
        </p:txBody>
      </p:sp>
      <p:sp>
        <p:nvSpPr>
          <p:cNvPr id="20" name="toc-arr-2">
            <a:extLst xmlns:a="http://schemas.openxmlformats.org/drawingml/2006/main">
              <a:ext uri="{FF2B5EF4-FFF2-40B4-BE49-F238E27FC236}">
                <a16:creationId xmlns:a16="http://schemas.microsoft.com/office/drawing/2014/main" id="{478C2942-BF07-43AC-B139-92477B5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→</a:t>
            </a:r>
          </a:p>
        </p:txBody>
      </p:sp>
      <p:sp>
        <p:nvSpPr>
          <p:cNvPr id="21" name="toc-line-3">
            <a:extLst xmlns:a="http://schemas.openxmlformats.org/drawingml/2006/main">
              <a:ext uri="{FF2B5EF4-FFF2-40B4-BE49-F238E27FC236}">
                <a16:creationId xmlns:a16="http://schemas.microsoft.com/office/drawing/2014/main" id="{4A7495BE-DFC7-4590-AD47-1713ADC3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2" name="toc-num-3">
            <a:extLst xmlns:a="http://schemas.openxmlformats.org/drawingml/2006/main">
              <a:ext uri="{FF2B5EF4-FFF2-40B4-BE49-F238E27FC236}">
                <a16:creationId xmlns:a16="http://schemas.microsoft.com/office/drawing/2014/main" id="{165F73B6-5748-47BA-B6DB-0C2D4AE1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</a:t>
            </a:r>
          </a:p>
        </p:txBody>
      </p:sp>
      <p:sp>
        <p:nvSpPr>
          <p:cNvPr id="23" name="toc-name-3">
            <a:extLst xmlns:a="http://schemas.openxmlformats.org/drawingml/2006/main">
              <a:ext uri="{FF2B5EF4-FFF2-40B4-BE49-F238E27FC236}">
                <a16:creationId xmlns:a16="http://schemas.microsoft.com/office/drawing/2014/main" id="{CE15E3B8-4759-43E4-B16A-B39692E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产品创新</a:t>
            </a:r>
          </a:p>
        </p:txBody>
      </p:sp>
      <p:sp>
        <p:nvSpPr>
          <p:cNvPr id="24" name="toc-arr-3">
            <a:extLst xmlns:a="http://schemas.openxmlformats.org/drawingml/2006/main">
              <a:ext uri="{FF2B5EF4-FFF2-40B4-BE49-F238E27FC236}">
                <a16:creationId xmlns:a16="http://schemas.microsoft.com/office/drawing/2014/main" id="{2213616B-9CF9-423C-AE7B-42F8B74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→</a:t>
            </a:r>
          </a:p>
        </p:txBody>
      </p:sp>
      <p:sp>
        <p:nvSpPr>
          <p:cNvPr id="25" name="toc-line-4">
            <a:extLst xmlns:a="http://schemas.openxmlformats.org/drawingml/2006/main">
              <a:ext uri="{FF2B5EF4-FFF2-40B4-BE49-F238E27FC236}">
                <a16:creationId xmlns:a16="http://schemas.microsoft.com/office/drawing/2014/main" id="{A737A1EB-3A4A-4DAE-8DAF-4D02A1FC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6" name="toc-num-4">
            <a:extLst xmlns:a="http://schemas.openxmlformats.org/drawingml/2006/main">
              <a:ext uri="{FF2B5EF4-FFF2-40B4-BE49-F238E27FC236}">
                <a16:creationId xmlns:a16="http://schemas.microsoft.com/office/drawing/2014/main" id="{10CC2B16-F44F-4FB1-9307-7F10CB0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05</a:t>
            </a:r>
          </a:p>
        </p:txBody>
      </p:sp>
      <p:sp>
        <p:nvSpPr>
          <p:cNvPr id="27" name="toc-name-4">
            <a:extLst xmlns:a="http://schemas.openxmlformats.org/drawingml/2006/main">
              <a:ext uri="{FF2B5EF4-FFF2-40B4-BE49-F238E27FC236}">
                <a16:creationId xmlns:a16="http://schemas.microsoft.com/office/drawing/2014/main" id="{1B3D1AF6-CCD3-495F-8B9C-CA84F58E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054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实机演示</a:t>
            </a:r>
          </a:p>
        </p:txBody>
      </p:sp>
      <p:sp>
        <p:nvSpPr>
          <p:cNvPr id="28" name="toc-arr-4">
            <a:extLst xmlns:a="http://schemas.openxmlformats.org/drawingml/2006/main">
              <a:ext uri="{FF2B5EF4-FFF2-40B4-BE49-F238E27FC236}">
                <a16:creationId xmlns:a16="http://schemas.microsoft.com/office/drawing/2014/main" id="{53F37159-5343-4AE5-8775-6F05B84F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054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03523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5">
            <a:extLst xmlns:a="http://schemas.openxmlformats.org/drawingml/2006/main">
              <a:ext uri="{FF2B5EF4-FFF2-40B4-BE49-F238E27FC236}">
                <a16:creationId xmlns:a16="http://schemas.microsoft.com/office/drawing/2014/main" id="{2EF1EC2C-35F4-4D80-9490-3FA1E3EA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 · 产品定位与用户场景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35740C1-DB33-4C55-B126-D22956BE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四类用户，各自在关键经营动作中使用智拓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34C36DD-8679-438D-AE05-BE5F137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7d72ea3864e18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BE1DB359-F705-4870-8D4C-8C41B24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05</a:t>
            </a:r>
          </a:p>
        </p:txBody>
      </p:sp>
      <p:sp>
        <p:nvSpPr>
          <p:cNvPr id="6" name="persona-0">
            <a:extLst xmlns:a="http://schemas.openxmlformats.org/drawingml/2006/main">
              <a:ext uri="{FF2B5EF4-FFF2-40B4-BE49-F238E27FC236}">
                <a16:creationId xmlns:a16="http://schemas.microsoft.com/office/drawing/2014/main" id="{74FDC92F-A373-4E0B-A976-D5098602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400300" cy="37147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persona-dot-0">
            <a:extLst xmlns:a="http://schemas.openxmlformats.org/drawingml/2006/main">
              <a:ext uri="{FF2B5EF4-FFF2-40B4-BE49-F238E27FC236}">
                <a16:creationId xmlns:a16="http://schemas.microsoft.com/office/drawing/2014/main" id="{81F1228E-C360-4261-AE74-9E5CDBE0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8" name="persona-role-0">
            <a:extLst xmlns:a="http://schemas.openxmlformats.org/drawingml/2006/main">
              <a:ext uri="{FF2B5EF4-FFF2-40B4-BE49-F238E27FC236}">
                <a16:creationId xmlns:a16="http://schemas.microsoft.com/office/drawing/2014/main" id="{72C798F0-E1B8-43DD-8F7C-292FA2A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客户经理</a:t>
            </a:r>
          </a:p>
        </p:txBody>
      </p:sp>
      <p:sp>
        <p:nvSpPr>
          <p:cNvPr id="9" name="persona-q1-0">
            <a:extLst xmlns:a="http://schemas.openxmlformats.org/drawingml/2006/main">
              <a:ext uri="{FF2B5EF4-FFF2-40B4-BE49-F238E27FC236}">
                <a16:creationId xmlns:a16="http://schemas.microsoft.com/office/drawing/2014/main" id="{EB78081E-FB97-4B6A-9C3E-252DF0CC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他是谁？</a:t>
            </a:r>
          </a:p>
        </p:txBody>
      </p:sp>
      <p:sp>
        <p:nvSpPr>
          <p:cNvPr id="10" name="persona-who-0">
            <a:extLst xmlns:a="http://schemas.openxmlformats.org/drawingml/2006/main">
              <a:ext uri="{FF2B5EF4-FFF2-40B4-BE49-F238E27FC236}">
                <a16:creationId xmlns:a16="http://schemas.microsoft.com/office/drawing/2014/main" id="{8F8931EC-2EF7-4784-B6EB-E969CE7D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一线拓客与跟进人员</a:t>
            </a:r>
          </a:p>
        </p:txBody>
      </p:sp>
      <p:sp>
        <p:nvSpPr>
          <p:cNvPr id="11" name="persona-line-0">
            <a:extLst xmlns:a="http://schemas.openxmlformats.org/drawingml/2006/main">
              <a:ext uri="{FF2B5EF4-FFF2-40B4-BE49-F238E27FC236}">
                <a16:creationId xmlns:a16="http://schemas.microsoft.com/office/drawing/2014/main" id="{0B6FB63B-37C8-4342-AB70-EA927EA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2" name="persona-q2-0">
            <a:extLst xmlns:a="http://schemas.openxmlformats.org/drawingml/2006/main">
              <a:ext uri="{FF2B5EF4-FFF2-40B4-BE49-F238E27FC236}">
                <a16:creationId xmlns:a16="http://schemas.microsoft.com/office/drawing/2014/main" id="{8683257E-DE79-4CA9-A035-BE3A1D0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用智拓解决什么？</a:t>
            </a:r>
          </a:p>
        </p:txBody>
      </p:sp>
      <p:sp>
        <p:nvSpPr>
          <p:cNvPr id="13" name="persona-use-0">
            <a:extLst xmlns:a="http://schemas.openxmlformats.org/drawingml/2006/main">
              <a:ext uri="{FF2B5EF4-FFF2-40B4-BE49-F238E27FC236}">
                <a16:creationId xmlns:a16="http://schemas.microsoft.com/office/drawing/2014/main" id="{8E6917F0-AAD0-44A9-B02D-B711FDF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领取商机、准备拜访、记录跟进</a:t>
            </a:r>
          </a:p>
        </p:txBody>
      </p:sp>
      <p:sp>
        <p:nvSpPr>
          <p:cNvPr id="14" name="persona-1">
            <a:extLst xmlns:a="http://schemas.openxmlformats.org/drawingml/2006/main">
              <a:ext uri="{FF2B5EF4-FFF2-40B4-BE49-F238E27FC236}">
                <a16:creationId xmlns:a16="http://schemas.microsoft.com/office/drawing/2014/main" id="{8811375A-3FF6-4E27-88B0-496B66A8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400300" cy="37147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ersona-dot-1">
            <a:extLst xmlns:a="http://schemas.openxmlformats.org/drawingml/2006/main">
              <a:ext uri="{FF2B5EF4-FFF2-40B4-BE49-F238E27FC236}">
                <a16:creationId xmlns:a16="http://schemas.microsoft.com/office/drawing/2014/main" id="{BD733B72-ED76-4BDF-91DF-B345711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71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2</a:t>
            </a:r>
          </a:p>
        </p:txBody>
      </p:sp>
      <p:sp>
        <p:nvSpPr>
          <p:cNvPr id="16" name="persona-role-1">
            <a:extLst xmlns:a="http://schemas.openxmlformats.org/drawingml/2006/main">
              <a:ext uri="{FF2B5EF4-FFF2-40B4-BE49-F238E27FC236}">
                <a16:creationId xmlns:a16="http://schemas.microsoft.com/office/drawing/2014/main" id="{EFF7472D-4F9C-4BDB-9EB2-883BBB7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146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区县主管</a:t>
            </a:r>
          </a:p>
        </p:txBody>
      </p:sp>
      <p:sp>
        <p:nvSpPr>
          <p:cNvPr id="17" name="persona-q1-1">
            <a:extLst xmlns:a="http://schemas.openxmlformats.org/drawingml/2006/main">
              <a:ext uri="{FF2B5EF4-FFF2-40B4-BE49-F238E27FC236}">
                <a16:creationId xmlns:a16="http://schemas.microsoft.com/office/drawing/2014/main" id="{9E37DDB2-49E9-4406-BD1E-051F2887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他是谁？</a:t>
            </a:r>
          </a:p>
        </p:txBody>
      </p:sp>
      <p:sp>
        <p:nvSpPr>
          <p:cNvPr id="18" name="persona-who-1">
            <a:extLst xmlns:a="http://schemas.openxmlformats.org/drawingml/2006/main">
              <a:ext uri="{FF2B5EF4-FFF2-40B4-BE49-F238E27FC236}">
                <a16:creationId xmlns:a16="http://schemas.microsoft.com/office/drawing/2014/main" id="{43BC72C9-1086-4464-8827-0FEEB0E0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部门 / 区县经营负责人</a:t>
            </a:r>
          </a:p>
        </p:txBody>
      </p:sp>
      <p:sp>
        <p:nvSpPr>
          <p:cNvPr id="19" name="persona-line-1">
            <a:extLst xmlns:a="http://schemas.openxmlformats.org/drawingml/2006/main">
              <a:ext uri="{FF2B5EF4-FFF2-40B4-BE49-F238E27FC236}">
                <a16:creationId xmlns:a16="http://schemas.microsoft.com/office/drawing/2014/main" id="{2187FA99-41AC-4431-9513-188B428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148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0" name="persona-q2-1">
            <a:extLst xmlns:a="http://schemas.openxmlformats.org/drawingml/2006/main">
              <a:ext uri="{FF2B5EF4-FFF2-40B4-BE49-F238E27FC236}">
                <a16:creationId xmlns:a16="http://schemas.microsoft.com/office/drawing/2014/main" id="{18AB264E-8017-4010-8BBC-588AA07E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86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用智拓解决什么？</a:t>
            </a:r>
          </a:p>
        </p:txBody>
      </p:sp>
      <p:sp>
        <p:nvSpPr>
          <p:cNvPr id="21" name="persona-use-1">
            <a:extLst xmlns:a="http://schemas.openxmlformats.org/drawingml/2006/main">
              <a:ext uri="{FF2B5EF4-FFF2-40B4-BE49-F238E27FC236}">
                <a16:creationId xmlns:a16="http://schemas.microsoft.com/office/drawing/2014/main" id="{9D016A2C-8663-42C2-877B-714B54D6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10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会议派单、责任追踪、进度管理</a:t>
            </a:r>
          </a:p>
        </p:txBody>
      </p:sp>
      <p:sp>
        <p:nvSpPr>
          <p:cNvPr id="22" name="persona-2">
            <a:extLst xmlns:a="http://schemas.openxmlformats.org/drawingml/2006/main">
              <a:ext uri="{FF2B5EF4-FFF2-40B4-BE49-F238E27FC236}">
                <a16:creationId xmlns:a16="http://schemas.microsoft.com/office/drawing/2014/main" id="{AC0FAC4E-2BDA-4101-8F23-3BBCBDA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00300" cy="37147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ersona-dot-2">
            <a:extLst xmlns:a="http://schemas.openxmlformats.org/drawingml/2006/main">
              <a:ext uri="{FF2B5EF4-FFF2-40B4-BE49-F238E27FC236}">
                <a16:creationId xmlns:a16="http://schemas.microsoft.com/office/drawing/2014/main" id="{C0947AA5-D396-4C9B-A35F-40105132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3</a:t>
            </a:r>
          </a:p>
        </p:txBody>
      </p:sp>
      <p:sp>
        <p:nvSpPr>
          <p:cNvPr id="24" name="persona-role-2">
            <a:extLst xmlns:a="http://schemas.openxmlformats.org/drawingml/2006/main">
              <a:ext uri="{FF2B5EF4-FFF2-40B4-BE49-F238E27FC236}">
                <a16:creationId xmlns:a16="http://schemas.microsoft.com/office/drawing/2014/main" id="{D961E727-DDF8-4E85-9545-F38FA98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省市管理层</a:t>
            </a:r>
          </a:p>
        </p:txBody>
      </p:sp>
      <p:sp>
        <p:nvSpPr>
          <p:cNvPr id="25" name="persona-q1-2">
            <a:extLst xmlns:a="http://schemas.openxmlformats.org/drawingml/2006/main">
              <a:ext uri="{FF2B5EF4-FFF2-40B4-BE49-F238E27FC236}">
                <a16:creationId xmlns:a16="http://schemas.microsoft.com/office/drawing/2014/main" id="{A9D91676-93B3-40B1-9B0E-11B982B0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他是谁？</a:t>
            </a:r>
          </a:p>
        </p:txBody>
      </p:sp>
      <p:sp>
        <p:nvSpPr>
          <p:cNvPr id="26" name="persona-who-2">
            <a:extLst xmlns:a="http://schemas.openxmlformats.org/drawingml/2006/main">
              <a:ext uri="{FF2B5EF4-FFF2-40B4-BE49-F238E27FC236}">
                <a16:creationId xmlns:a16="http://schemas.microsoft.com/office/drawing/2014/main" id="{63BA93EA-52A2-4128-BE51-1DDA322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省 / 市级经营管理者</a:t>
            </a:r>
          </a:p>
        </p:txBody>
      </p:sp>
      <p:sp>
        <p:nvSpPr>
          <p:cNvPr id="27" name="persona-line-2">
            <a:extLst xmlns:a="http://schemas.openxmlformats.org/drawingml/2006/main">
              <a:ext uri="{FF2B5EF4-FFF2-40B4-BE49-F238E27FC236}">
                <a16:creationId xmlns:a16="http://schemas.microsoft.com/office/drawing/2014/main" id="{311E139D-511E-41C7-BE13-B83687A5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8" name="persona-q2-2">
            <a:extLst xmlns:a="http://schemas.openxmlformats.org/drawingml/2006/main">
              <a:ext uri="{FF2B5EF4-FFF2-40B4-BE49-F238E27FC236}">
                <a16:creationId xmlns:a16="http://schemas.microsoft.com/office/drawing/2014/main" id="{984FBBEA-9D7D-4CC6-A7E6-D1659B7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用智拓解决什么？</a:t>
            </a:r>
          </a:p>
        </p:txBody>
      </p:sp>
      <p:sp>
        <p:nvSpPr>
          <p:cNvPr id="29" name="persona-use-2">
            <a:extLst xmlns:a="http://schemas.openxmlformats.org/drawingml/2006/main">
              <a:ext uri="{FF2B5EF4-FFF2-40B4-BE49-F238E27FC236}">
                <a16:creationId xmlns:a16="http://schemas.microsoft.com/office/drawing/2014/main" id="{E76DF95E-C290-4681-86E6-50C8141C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经营分析、数据下钻、组织监控</a:t>
            </a:r>
          </a:p>
        </p:txBody>
      </p:sp>
      <p:sp>
        <p:nvSpPr>
          <p:cNvPr id="30" name="persona-3">
            <a:extLst xmlns:a="http://schemas.openxmlformats.org/drawingml/2006/main">
              <a:ext uri="{FF2B5EF4-FFF2-40B4-BE49-F238E27FC236}">
                <a16:creationId xmlns:a16="http://schemas.microsoft.com/office/drawing/2014/main" id="{5A75C557-DEA9-4434-A7CF-25638442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400300" cy="37147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ersona-dot-3">
            <a:extLst xmlns:a="http://schemas.openxmlformats.org/drawingml/2006/main">
              <a:ext uri="{FF2B5EF4-FFF2-40B4-BE49-F238E27FC236}">
                <a16:creationId xmlns:a16="http://schemas.microsoft.com/office/drawing/2014/main" id="{552E7D90-524F-42AA-B846-979D57D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4</a:t>
            </a:r>
          </a:p>
        </p:txBody>
      </p:sp>
      <p:sp>
        <p:nvSpPr>
          <p:cNvPr id="32" name="persona-role-3">
            <a:extLst xmlns:a="http://schemas.openxmlformats.org/drawingml/2006/main">
              <a:ext uri="{FF2B5EF4-FFF2-40B4-BE49-F238E27FC236}">
                <a16:creationId xmlns:a16="http://schemas.microsoft.com/office/drawing/2014/main" id="{C2313A82-7D75-43E6-8658-4C36695C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集团管理员</a:t>
            </a:r>
          </a:p>
        </p:txBody>
      </p:sp>
      <p:sp>
        <p:nvSpPr>
          <p:cNvPr id="33" name="persona-q1-3">
            <a:extLst xmlns:a="http://schemas.openxmlformats.org/drawingml/2006/main">
              <a:ext uri="{FF2B5EF4-FFF2-40B4-BE49-F238E27FC236}">
                <a16:creationId xmlns:a16="http://schemas.microsoft.com/office/drawing/2014/main" id="{0474CDBE-7945-49D1-8882-5C3C929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他是谁？</a:t>
            </a:r>
          </a:p>
        </p:txBody>
      </p:sp>
      <p:sp>
        <p:nvSpPr>
          <p:cNvPr id="34" name="persona-who-3">
            <a:extLst xmlns:a="http://schemas.openxmlformats.org/drawingml/2006/main">
              <a:ext uri="{FF2B5EF4-FFF2-40B4-BE49-F238E27FC236}">
                <a16:creationId xmlns:a16="http://schemas.microsoft.com/office/drawing/2014/main" id="{6F929325-CDD2-401E-851C-13E376F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集团经营与组织管理员</a:t>
            </a:r>
          </a:p>
        </p:txBody>
      </p:sp>
      <p:sp>
        <p:nvSpPr>
          <p:cNvPr id="35" name="persona-line-3">
            <a:extLst xmlns:a="http://schemas.openxmlformats.org/drawingml/2006/main">
              <a:ext uri="{FF2B5EF4-FFF2-40B4-BE49-F238E27FC236}">
                <a16:creationId xmlns:a16="http://schemas.microsoft.com/office/drawing/2014/main" id="{E1FE1E54-744B-4B93-A769-47E6B22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148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36" name="persona-q2-3">
            <a:extLst xmlns:a="http://schemas.openxmlformats.org/drawingml/2006/main">
              <a:ext uri="{FF2B5EF4-FFF2-40B4-BE49-F238E27FC236}">
                <a16:creationId xmlns:a16="http://schemas.microsoft.com/office/drawing/2014/main" id="{72DB28D1-00F1-42D2-99B6-D70903EF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用智拓解决什么？</a:t>
            </a:r>
          </a:p>
        </p:txBody>
      </p:sp>
      <p:sp>
        <p:nvSpPr>
          <p:cNvPr id="37" name="persona-use-3">
            <a:extLst xmlns:a="http://schemas.openxmlformats.org/drawingml/2006/main">
              <a:ext uri="{FF2B5EF4-FFF2-40B4-BE49-F238E27FC236}">
                <a16:creationId xmlns:a16="http://schemas.microsoft.com/office/drawing/2014/main" id="{C17C0585-8768-40BA-B28E-7C633B4B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0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身份、组织、权限管理</a:t>
            </a:r>
          </a:p>
        </p:txBody>
      </p:sp>
    </p:spTree>
    <p:extLst>
      <p:ext uri="{BB962C8B-B14F-4D97-AF65-F5344CB8AC3E}">
        <p14:creationId xmlns:p14="http://schemas.microsoft.com/office/powerpoint/2010/main" val="1724593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kicker-6">
            <a:extLst xmlns:a="http://schemas.openxmlformats.org/drawingml/2006/main">
              <a:ext uri="{FF2B5EF4-FFF2-40B4-BE49-F238E27FC236}">
                <a16:creationId xmlns:a16="http://schemas.microsoft.com/office/drawing/2014/main" id="{5ADB90A9-B7DC-4647-9A25-11B8164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 · 用户价值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EC2BD97-0B7F-42A8-BA7F-996B275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把重复、等待与手工统计，转成可验收的经营效率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4B3F79CF-77C5-4E0F-B4D7-6088D04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32d50139347d6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5D041461-101A-4218-967D-717A8B6E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06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FAEFE821-6ECE-464B-9E6E-2DBC4F2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905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9525">
            <a:solidFill>
              <a:srgbClr val="2263E6"/>
            </a:solidFill>
            <a:prstDash val="solid"/>
          </a:ln>
        </p:spPr>
      </p:sp>
      <p:sp>
        <p:nvSpPr>
          <p:cNvPr id="7" name="metric-v-0">
            <a:extLst xmlns:a="http://schemas.openxmlformats.org/drawingml/2006/main">
              <a:ext uri="{FF2B5EF4-FFF2-40B4-BE49-F238E27FC236}">
                <a16:creationId xmlns:a16="http://schemas.microsoft.com/office/drawing/2014/main" id="{933B697C-6942-4456-8F01-1C7043E4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≤3分钟</a:t>
            </a:r>
          </a:p>
        </p:txBody>
      </p:sp>
      <p:sp>
        <p:nvSpPr>
          <p:cNvPr id="8" name="metric-l-0">
            <a:extLst xmlns:a="http://schemas.openxmlformats.org/drawingml/2006/main">
              <a:ext uri="{FF2B5EF4-FFF2-40B4-BE49-F238E27FC236}">
                <a16:creationId xmlns:a16="http://schemas.microsoft.com/office/drawing/2014/main" id="{478B87F2-4F53-4CCB-986A-3FA0C5BD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客户经理领·访·记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E467E519-D9D1-47A5-BAF7-E6268F9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1905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0" name="metric-v-1">
            <a:extLst xmlns:a="http://schemas.openxmlformats.org/drawingml/2006/main">
              <a:ext uri="{FF2B5EF4-FFF2-40B4-BE49-F238E27FC236}">
                <a16:creationId xmlns:a16="http://schemas.microsoft.com/office/drawing/2014/main" id="{37497A5B-06E2-467D-9635-A627831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10分钟</a:t>
            </a:r>
          </a:p>
        </p:txBody>
      </p:sp>
      <p:sp>
        <p:nvSpPr>
          <p:cNvPr id="11" name="metric-l-1">
            <a:extLst xmlns:a="http://schemas.openxmlformats.org/drawingml/2006/main">
              <a:ext uri="{FF2B5EF4-FFF2-40B4-BE49-F238E27FC236}">
                <a16:creationId xmlns:a16="http://schemas.microsoft.com/office/drawing/2014/main" id="{B2218A20-0E90-449E-8317-5A1BB55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例会完成派单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535F339C-527C-4F13-A9C6-1BDBDDCF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905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3" name="metric-v-2">
            <a:extLst xmlns:a="http://schemas.openxmlformats.org/drawingml/2006/main">
              <a:ext uri="{FF2B5EF4-FFF2-40B4-BE49-F238E27FC236}">
                <a16:creationId xmlns:a16="http://schemas.microsoft.com/office/drawing/2014/main" id="{CF2659AD-FA25-4F49-BA88-94E81AD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</a:t>
            </a:r>
          </a:p>
        </p:txBody>
      </p:sp>
      <p:sp>
        <p:nvSpPr>
          <p:cNvPr id="14" name="metric-l-2">
            <a:extLst xmlns:a="http://schemas.openxmlformats.org/drawingml/2006/main">
              <a:ext uri="{FF2B5EF4-FFF2-40B4-BE49-F238E27FC236}">
                <a16:creationId xmlns:a16="http://schemas.microsoft.com/office/drawing/2014/main" id="{79B37B5C-94FA-44CA-9615-E569348A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状态与经营数据</a:t>
            </a:r>
          </a:p>
        </p:txBody>
      </p:sp>
      <p:sp>
        <p:nvSpPr>
          <p:cNvPr id="15" name="metric-3">
            <a:extLst xmlns:a="http://schemas.openxmlformats.org/drawingml/2006/main">
              <a:ext uri="{FF2B5EF4-FFF2-40B4-BE49-F238E27FC236}">
                <a16:creationId xmlns:a16="http://schemas.microsoft.com/office/drawing/2014/main" id="{27F56FF6-88B1-4E77-BE90-86C09DD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905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6" name="metric-v-3">
            <a:extLst xmlns:a="http://schemas.openxmlformats.org/drawingml/2006/main">
              <a:ext uri="{FF2B5EF4-FFF2-40B4-BE49-F238E27FC236}">
                <a16:creationId xmlns:a16="http://schemas.microsoft.com/office/drawing/2014/main" id="{4602CAC6-C32E-454C-8289-AEC6B32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当天</a:t>
            </a:r>
          </a:p>
        </p:txBody>
      </p:sp>
      <p:sp>
        <p:nvSpPr>
          <p:cNvPr id="17" name="metric-l-3">
            <a:extLst xmlns:a="http://schemas.openxmlformats.org/drawingml/2006/main">
              <a:ext uri="{FF2B5EF4-FFF2-40B4-BE49-F238E27FC236}">
                <a16:creationId xmlns:a16="http://schemas.microsoft.com/office/drawing/2014/main" id="{E941FEFE-E1B2-4F99-865C-8D8B5CD8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权限生效与回收</a:t>
            </a:r>
          </a:p>
        </p:txBody>
      </p:sp>
      <p:sp>
        <p:nvSpPr>
          <p:cNvPr id="18" name="metric-4">
            <a:extLst xmlns:a="http://schemas.openxmlformats.org/drawingml/2006/main">
              <a:ext uri="{FF2B5EF4-FFF2-40B4-BE49-F238E27FC236}">
                <a16:creationId xmlns:a16="http://schemas.microsoft.com/office/drawing/2014/main" id="{D063D50F-8140-4146-A597-F8215BD0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905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9" name="metric-v-4">
            <a:extLst xmlns:a="http://schemas.openxmlformats.org/drawingml/2006/main">
              <a:ext uri="{FF2B5EF4-FFF2-40B4-BE49-F238E27FC236}">
                <a16:creationId xmlns:a16="http://schemas.microsoft.com/office/drawing/2014/main" id="{2334613A-2858-4107-8516-D57C762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零工单</a:t>
            </a:r>
          </a:p>
        </p:txBody>
      </p:sp>
      <p:sp>
        <p:nvSpPr>
          <p:cNvPr id="20" name="metric-l-4">
            <a:extLst xmlns:a="http://schemas.openxmlformats.org/drawingml/2006/main">
              <a:ext uri="{FF2B5EF4-FFF2-40B4-BE49-F238E27FC236}">
                <a16:creationId xmlns:a16="http://schemas.microsoft.com/office/drawing/2014/main" id="{4D6FEA9F-71F4-47BF-8488-359D49B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权限自助配置</a:t>
            </a:r>
          </a:p>
        </p:txBody>
      </p:sp>
      <p:sp>
        <p:nvSpPr>
          <p:cNvPr id="21" name="value-h1">
            <a:extLst xmlns:a="http://schemas.openxmlformats.org/drawingml/2006/main">
              <a:ext uri="{FF2B5EF4-FFF2-40B4-BE49-F238E27FC236}">
                <a16:creationId xmlns:a16="http://schemas.microsoft.com/office/drawing/2014/main" id="{6474A841-6EFB-4E56-9D22-3E97B63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角色</a:t>
            </a:r>
          </a:p>
        </p:txBody>
      </p:sp>
      <p:sp>
        <p:nvSpPr>
          <p:cNvPr id="22" name="value-h2">
            <a:extLst xmlns:a="http://schemas.openxmlformats.org/drawingml/2006/main">
              <a:ext uri="{FF2B5EF4-FFF2-40B4-BE49-F238E27FC236}">
                <a16:creationId xmlns:a16="http://schemas.microsoft.com/office/drawing/2014/main" id="{CC98A313-95A5-4804-AFCC-280A4365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过去</a:t>
            </a:r>
          </a:p>
        </p:txBody>
      </p:sp>
      <p:sp>
        <p:nvSpPr>
          <p:cNvPr id="23" name="value-h3">
            <a:extLst xmlns:a="http://schemas.openxmlformats.org/drawingml/2006/main">
              <a:ext uri="{FF2B5EF4-FFF2-40B4-BE49-F238E27FC236}">
                <a16:creationId xmlns:a16="http://schemas.microsoft.com/office/drawing/2014/main" id="{3A461C76-D646-4AF1-93EE-E280D762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智拓能力</a:t>
            </a:r>
          </a:p>
        </p:txBody>
      </p:sp>
      <p:sp>
        <p:nvSpPr>
          <p:cNvPr id="24" name="value-h4">
            <a:extLst xmlns:a="http://schemas.openxmlformats.org/drawingml/2006/main">
              <a:ext uri="{FF2B5EF4-FFF2-40B4-BE49-F238E27FC236}">
                <a16:creationId xmlns:a16="http://schemas.microsoft.com/office/drawing/2014/main" id="{F019CC16-EF34-49AB-B025-00258F6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现在</a:t>
            </a:r>
          </a:p>
        </p:txBody>
      </p:sp>
      <p:sp>
        <p:nvSpPr>
          <p:cNvPr id="25" name="value-row-0">
            <a:extLst xmlns:a="http://schemas.openxmlformats.org/drawingml/2006/main">
              <a:ext uri="{FF2B5EF4-FFF2-40B4-BE49-F238E27FC236}">
                <a16:creationId xmlns:a16="http://schemas.microsoft.com/office/drawing/2014/main" id="{0B4F03B8-8533-4870-8B5A-D6D009C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668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value-role-0">
            <a:extLst xmlns:a="http://schemas.openxmlformats.org/drawingml/2006/main">
              <a:ext uri="{FF2B5EF4-FFF2-40B4-BE49-F238E27FC236}">
                <a16:creationId xmlns:a16="http://schemas.microsoft.com/office/drawing/2014/main" id="{E7DD0E7E-60FC-4418-8145-16C9295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客户经理</a:t>
            </a:r>
          </a:p>
        </p:txBody>
      </p:sp>
      <p:sp>
        <p:nvSpPr>
          <p:cNvPr id="27" name="value-past-0">
            <a:extLst xmlns:a="http://schemas.openxmlformats.org/drawingml/2006/main">
              <a:ext uri="{FF2B5EF4-FFF2-40B4-BE49-F238E27FC236}">
                <a16:creationId xmlns:a16="http://schemas.microsoft.com/office/drawing/2014/main" id="{80EEB514-B4EB-4D96-9044-91782C3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Excel 手工记单、重复拜访</a:t>
            </a:r>
          </a:p>
        </p:txBody>
      </p:sp>
      <p:sp>
        <p:nvSpPr>
          <p:cNvPr id="28" name="value-now-0">
            <a:extLst xmlns:a="http://schemas.openxmlformats.org/drawingml/2006/main">
              <a:ext uri="{FF2B5EF4-FFF2-40B4-BE49-F238E27FC236}">
                <a16:creationId xmlns:a16="http://schemas.microsoft.com/office/drawing/2014/main" id="{D0BD9D1D-1D1D-43EB-A426-24D86B2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领 → 访 → 记，一条轻流程</a:t>
            </a:r>
          </a:p>
        </p:txBody>
      </p:sp>
      <p:sp>
        <p:nvSpPr>
          <p:cNvPr id="29" name="value-result-0">
            <a:extLst xmlns:a="http://schemas.openxmlformats.org/drawingml/2006/main">
              <a:ext uri="{FF2B5EF4-FFF2-40B4-BE49-F238E27FC236}">
                <a16:creationId xmlns:a16="http://schemas.microsoft.com/office/drawing/2014/main" id="{75C31C7C-7252-4C90-AF30-A434E06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≤3分钟</a:t>
            </a:r>
          </a:p>
        </p:txBody>
      </p:sp>
      <p:sp>
        <p:nvSpPr>
          <p:cNvPr id="30" name="value-row-1">
            <a:extLst xmlns:a="http://schemas.openxmlformats.org/drawingml/2006/main">
              <a:ext uri="{FF2B5EF4-FFF2-40B4-BE49-F238E27FC236}">
                <a16:creationId xmlns:a16="http://schemas.microsoft.com/office/drawing/2014/main" id="{86116C77-3899-408E-82C5-E0DA4B6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value-role-1">
            <a:extLst xmlns:a="http://schemas.openxmlformats.org/drawingml/2006/main">
              <a:ext uri="{FF2B5EF4-FFF2-40B4-BE49-F238E27FC236}">
                <a16:creationId xmlns:a16="http://schemas.microsoft.com/office/drawing/2014/main" id="{E0FB121E-3E2D-4953-BD4A-27CE33D2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区县主管</a:t>
            </a:r>
          </a:p>
        </p:txBody>
      </p:sp>
      <p:sp>
        <p:nvSpPr>
          <p:cNvPr id="32" name="value-past-1">
            <a:extLst xmlns:a="http://schemas.openxmlformats.org/drawingml/2006/main">
              <a:ext uri="{FF2B5EF4-FFF2-40B4-BE49-F238E27FC236}">
                <a16:creationId xmlns:a16="http://schemas.microsoft.com/office/drawing/2014/main" id="{2A5083E9-9620-4ABD-A6FB-64A8B4A9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例会口头派单、责任难追</a:t>
            </a:r>
          </a:p>
        </p:txBody>
      </p:sp>
      <p:sp>
        <p:nvSpPr>
          <p:cNvPr id="33" name="value-now-1">
            <a:extLst xmlns:a="http://schemas.openxmlformats.org/drawingml/2006/main">
              <a:ext uri="{FF2B5EF4-FFF2-40B4-BE49-F238E27FC236}">
                <a16:creationId xmlns:a16="http://schemas.microsoft.com/office/drawing/2014/main" id="{8E101A98-D28A-43C6-BAE9-0B075630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一键派单、责任到人</a:t>
            </a:r>
          </a:p>
        </p:txBody>
      </p:sp>
      <p:sp>
        <p:nvSpPr>
          <p:cNvPr id="34" name="value-result-1">
            <a:extLst xmlns:a="http://schemas.openxmlformats.org/drawingml/2006/main">
              <a:ext uri="{FF2B5EF4-FFF2-40B4-BE49-F238E27FC236}">
                <a16:creationId xmlns:a16="http://schemas.microsoft.com/office/drawing/2014/main" id="{188A4926-42A2-47AC-9CF9-C68AEEF9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90975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10分钟</a:t>
            </a:r>
          </a:p>
        </p:txBody>
      </p:sp>
      <p:sp>
        <p:nvSpPr>
          <p:cNvPr id="35" name="value-row-2">
            <a:extLst xmlns:a="http://schemas.openxmlformats.org/drawingml/2006/main">
              <a:ext uri="{FF2B5EF4-FFF2-40B4-BE49-F238E27FC236}">
                <a16:creationId xmlns:a16="http://schemas.microsoft.com/office/drawing/2014/main" id="{5EE79CAA-2DB7-4B53-ACCE-CB727AD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value-role-2">
            <a:extLst xmlns:a="http://schemas.openxmlformats.org/drawingml/2006/main">
              <a:ext uri="{FF2B5EF4-FFF2-40B4-BE49-F238E27FC236}">
                <a16:creationId xmlns:a16="http://schemas.microsoft.com/office/drawing/2014/main" id="{519BC265-A7DB-475C-9424-03334DE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省市管理层</a:t>
            </a:r>
          </a:p>
        </p:txBody>
      </p:sp>
      <p:sp>
        <p:nvSpPr>
          <p:cNvPr id="37" name="value-past-2">
            <a:extLst xmlns:a="http://schemas.openxmlformats.org/drawingml/2006/main">
              <a:ext uri="{FF2B5EF4-FFF2-40B4-BE49-F238E27FC236}">
                <a16:creationId xmlns:a16="http://schemas.microsoft.com/office/drawing/2014/main" id="{0B7B496F-5DB3-4D06-B9CB-E17A7FB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86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报表口径不一、逐级等待</a:t>
            </a:r>
          </a:p>
        </p:txBody>
      </p:sp>
      <p:sp>
        <p:nvSpPr>
          <p:cNvPr id="38" name="value-now-2">
            <a:extLst xmlns:a="http://schemas.openxmlformats.org/drawingml/2006/main">
              <a:ext uri="{FF2B5EF4-FFF2-40B4-BE49-F238E27FC236}">
                <a16:creationId xmlns:a16="http://schemas.microsoft.com/office/drawing/2014/main" id="{617EDD7F-D667-4F99-AFE2-4A15154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统一经营视图、逐级下钻</a:t>
            </a:r>
          </a:p>
        </p:txBody>
      </p:sp>
      <p:sp>
        <p:nvSpPr>
          <p:cNvPr id="39" name="value-result-2">
            <a:extLst xmlns:a="http://schemas.openxmlformats.org/drawingml/2006/main">
              <a:ext uri="{FF2B5EF4-FFF2-40B4-BE49-F238E27FC236}">
                <a16:creationId xmlns:a16="http://schemas.microsoft.com/office/drawing/2014/main" id="{325D3AD2-E76E-4EBF-9D1D-0A16E60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33925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</a:t>
            </a:r>
          </a:p>
        </p:txBody>
      </p:sp>
      <p:sp>
        <p:nvSpPr>
          <p:cNvPr id="40" name="value-row-3">
            <a:extLst xmlns:a="http://schemas.openxmlformats.org/drawingml/2006/main">
              <a:ext uri="{FF2B5EF4-FFF2-40B4-BE49-F238E27FC236}">
                <a16:creationId xmlns:a16="http://schemas.microsoft.com/office/drawing/2014/main" id="{CB3BAB64-2BA1-4711-B885-5E4A8780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value-role-3">
            <a:extLst xmlns:a="http://schemas.openxmlformats.org/drawingml/2006/main">
              <a:ext uri="{FF2B5EF4-FFF2-40B4-BE49-F238E27FC236}">
                <a16:creationId xmlns:a16="http://schemas.microsoft.com/office/drawing/2014/main" id="{A5B09E24-70B5-4B62-B18F-946F07F8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集团管理员</a:t>
            </a:r>
          </a:p>
        </p:txBody>
      </p:sp>
      <p:sp>
        <p:nvSpPr>
          <p:cNvPr id="42" name="value-past-3">
            <a:extLst xmlns:a="http://schemas.openxmlformats.org/drawingml/2006/main">
              <a:ext uri="{FF2B5EF4-FFF2-40B4-BE49-F238E27FC236}">
                <a16:creationId xmlns:a16="http://schemas.microsoft.com/office/drawing/2014/main" id="{4D719CE6-AC66-4DB6-BB48-8E25411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权限调整依赖工单</a:t>
            </a:r>
          </a:p>
        </p:txBody>
      </p:sp>
      <p:sp>
        <p:nvSpPr>
          <p:cNvPr id="43" name="value-now-3">
            <a:extLst xmlns:a="http://schemas.openxmlformats.org/drawingml/2006/main">
              <a:ext uri="{FF2B5EF4-FFF2-40B4-BE49-F238E27FC236}">
                <a16:creationId xmlns:a16="http://schemas.microsoft.com/office/drawing/2014/main" id="{2908FB52-9049-4836-8AF1-D87FF5A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身份与权限自助配置</a:t>
            </a:r>
          </a:p>
        </p:txBody>
      </p:sp>
      <p:sp>
        <p:nvSpPr>
          <p:cNvPr id="44" name="value-result-3">
            <a:extLst xmlns:a="http://schemas.openxmlformats.org/drawingml/2006/main">
              <a:ext uri="{FF2B5EF4-FFF2-40B4-BE49-F238E27FC236}">
                <a16:creationId xmlns:a16="http://schemas.microsoft.com/office/drawing/2014/main" id="{8F5B883A-6609-4FAF-A23D-1809327F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76875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当天 / 零工单</a:t>
            </a:r>
          </a:p>
        </p:txBody>
      </p:sp>
    </p:spTree>
    <p:extLst>
      <p:ext uri="{BB962C8B-B14F-4D97-AF65-F5344CB8AC3E}">
        <p14:creationId xmlns:p14="http://schemas.microsoft.com/office/powerpoint/2010/main" val="458776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7">
            <a:extLst xmlns:a="http://schemas.openxmlformats.org/drawingml/2006/main">
              <a:ext uri="{FF2B5EF4-FFF2-40B4-BE49-F238E27FC236}">
                <a16:creationId xmlns:a16="http://schemas.microsoft.com/office/drawing/2014/main" id="{4E472E1C-58BC-47BD-B893-54A6D34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 · 核心功能（一）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A24443E-1064-41CA-80FB-27E180C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客户档案：把分散数据变成一页可执行的判断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9AA1525-CF02-45EB-8E3A-6755D60B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94f2e8a794005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84EC5F2C-E575-4DDF-B592-8706851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07</a:t>
            </a:r>
          </a:p>
        </p:txBody>
      </p:sp>
      <p:sp>
        <p:nvSpPr>
          <p:cNvPr id="6" name="profile-ui">
            <a:extLst xmlns:a="http://schemas.openxmlformats.org/drawingml/2006/main">
              <a:ext uri="{FF2B5EF4-FFF2-40B4-BE49-F238E27FC236}">
                <a16:creationId xmlns:a16="http://schemas.microsoft.com/office/drawing/2014/main" id="{06F308D5-B05F-428D-AD83-E99CDA8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42950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profile-top">
            <a:extLst xmlns:a="http://schemas.openxmlformats.org/drawingml/2006/main">
              <a:ext uri="{FF2B5EF4-FFF2-40B4-BE49-F238E27FC236}">
                <a16:creationId xmlns:a16="http://schemas.microsoft.com/office/drawing/2014/main" id="{46150FA5-5AC7-4B20-B20D-4503CDD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file-logo">
            <a:extLst xmlns:a="http://schemas.openxmlformats.org/drawingml/2006/main">
              <a:ext uri="{FF2B5EF4-FFF2-40B4-BE49-F238E27FC236}">
                <a16:creationId xmlns:a16="http://schemas.microsoft.com/office/drawing/2014/main" id="{F607C408-1677-47CE-86A2-BC5B9414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0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</a:t>
            </a:r>
          </a:p>
        </p:txBody>
      </p:sp>
      <p:sp>
        <p:nvSpPr>
          <p:cNvPr id="9" name="profile-name">
            <a:extLst xmlns:a="http://schemas.openxmlformats.org/drawingml/2006/main">
              <a:ext uri="{FF2B5EF4-FFF2-40B4-BE49-F238E27FC236}">
                <a16:creationId xmlns:a16="http://schemas.microsoft.com/office/drawing/2014/main" id="{401983D1-7A1B-471B-BC4E-18D1355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客户智能档案</a:t>
            </a:r>
          </a:p>
        </p:txBody>
      </p:sp>
      <p:sp>
        <p:nvSpPr>
          <p:cNvPr id="10" name="profile-live">
            <a:extLst xmlns:a="http://schemas.openxmlformats.org/drawingml/2006/main">
              <a:ext uri="{FF2B5EF4-FFF2-40B4-BE49-F238E27FC236}">
                <a16:creationId xmlns:a16="http://schemas.microsoft.com/office/drawing/2014/main" id="{C7123683-A8FE-4D55-89CA-E9FA719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9F8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0A9F86"/>
                </a:solidFill>
                <a:latin typeface="MiSans"/>
                <a:ea typeface="MiSans"/>
                <a:cs typeface="MiSans"/>
              </a:rPr>
              <a:t>实时更新</a:t>
            </a:r>
          </a:p>
        </p:txBody>
      </p:sp>
      <p:sp>
        <p:nvSpPr>
          <p:cNvPr id="11" name="profile-basic">
            <a:extLst xmlns:a="http://schemas.openxmlformats.org/drawingml/2006/main">
              <a:ext uri="{FF2B5EF4-FFF2-40B4-BE49-F238E27FC236}">
                <a16:creationId xmlns:a16="http://schemas.microsoft.com/office/drawing/2014/main" id="{C17E23CA-C4E3-4085-A034-C586BD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客户基本信息</a:t>
            </a:r>
          </a:p>
        </p:txBody>
      </p:sp>
      <p:sp>
        <p:nvSpPr>
          <p:cNvPr id="12" name="profile-summary">
            <a:extLst xmlns:a="http://schemas.openxmlformats.org/drawingml/2006/main">
              <a:ext uri="{FF2B5EF4-FFF2-40B4-BE49-F238E27FC236}">
                <a16:creationId xmlns:a16="http://schemas.microsoft.com/office/drawing/2014/main" id="{1458C435-70EC-4AF1-BA47-A7A1407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38125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file-summary-t">
            <a:extLst xmlns:a="http://schemas.openxmlformats.org/drawingml/2006/main">
              <a:ext uri="{FF2B5EF4-FFF2-40B4-BE49-F238E27FC236}">
                <a16:creationId xmlns:a16="http://schemas.microsoft.com/office/drawing/2014/main" id="{19F34F72-61DC-4FEB-82F1-E76847C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经营摘要</a:t>
            </a:r>
          </a:p>
        </p:txBody>
      </p:sp>
      <p:sp>
        <p:nvSpPr>
          <p:cNvPr id="14" name="profile-summary-b">
            <a:extLst xmlns:a="http://schemas.openxmlformats.org/drawingml/2006/main">
              <a:ext uri="{FF2B5EF4-FFF2-40B4-BE49-F238E27FC236}">
                <a16:creationId xmlns:a16="http://schemas.microsoft.com/office/drawing/2014/main" id="{33191EE6-67D9-4E47-A9A3-E17BC3B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聚合客户信息、拜访记录与经营动态</a:t>
            </a:r>
          </a:p>
        </p:txBody>
      </p:sp>
      <p:sp>
        <p:nvSpPr>
          <p:cNvPr id="15" name="profile-score">
            <a:extLst xmlns:a="http://schemas.openxmlformats.org/drawingml/2006/main">
              <a:ext uri="{FF2B5EF4-FFF2-40B4-BE49-F238E27FC236}">
                <a16:creationId xmlns:a16="http://schemas.microsoft.com/office/drawing/2014/main" id="{816185B8-FA5C-4994-B04E-5A21416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0193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6" name="profile-score-t">
            <a:extLst xmlns:a="http://schemas.openxmlformats.org/drawingml/2006/main">
              <a:ext uri="{FF2B5EF4-FFF2-40B4-BE49-F238E27FC236}">
                <a16:creationId xmlns:a16="http://schemas.microsoft.com/office/drawing/2014/main" id="{16480DFE-FE34-4D55-8675-480B5B6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价值评分</a:t>
            </a:r>
          </a:p>
        </p:txBody>
      </p:sp>
      <p:sp>
        <p:nvSpPr>
          <p:cNvPr id="17" name="profile-score-b">
            <a:extLst xmlns:a="http://schemas.openxmlformats.org/drawingml/2006/main">
              <a:ext uri="{FF2B5EF4-FFF2-40B4-BE49-F238E27FC236}">
                <a16:creationId xmlns:a16="http://schemas.microsoft.com/office/drawing/2014/main" id="{12AFF182-8F3F-4711-95C0-05D4665C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263E6"/>
                </a:solidFill>
                <a:latin typeface="MiSans"/>
                <a:ea typeface="MiSans"/>
                <a:cs typeface="MiSans"/>
              </a:rPr>
              <a:t>AI 综合研判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形成清晰优先级</a:t>
            </a:r>
          </a:p>
        </p:txBody>
      </p:sp>
      <p:sp>
        <p:nvSpPr>
          <p:cNvPr id="18" name="profile-match">
            <a:extLst xmlns:a="http://schemas.openxmlformats.org/drawingml/2006/main">
              <a:ext uri="{FF2B5EF4-FFF2-40B4-BE49-F238E27FC236}">
                <a16:creationId xmlns:a16="http://schemas.microsoft.com/office/drawing/2014/main" id="{B615A1DF-8EE8-4620-91C2-BB064C0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0383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9" name="profile-match-t">
            <a:extLst xmlns:a="http://schemas.openxmlformats.org/drawingml/2006/main">
              <a:ext uri="{FF2B5EF4-FFF2-40B4-BE49-F238E27FC236}">
                <a16:creationId xmlns:a16="http://schemas.microsoft.com/office/drawing/2014/main" id="{0D0A04DA-3D55-44E8-86FE-CA32394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产品匹配</a:t>
            </a:r>
          </a:p>
        </p:txBody>
      </p:sp>
      <p:sp>
        <p:nvSpPr>
          <p:cNvPr id="20" name="profile-match-b">
            <a:extLst xmlns:a="http://schemas.openxmlformats.org/drawingml/2006/main">
              <a:ext uri="{FF2B5EF4-FFF2-40B4-BE49-F238E27FC236}">
                <a16:creationId xmlns:a16="http://schemas.microsoft.com/office/drawing/2014/main" id="{530C2F8C-F8CD-4093-864E-8EB6DF8E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根据需求与场景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推荐适配方向</a:t>
            </a:r>
          </a:p>
        </p:txBody>
      </p:sp>
      <p:sp>
        <p:nvSpPr>
          <p:cNvPr id="21" name="profile-tags-title">
            <a:extLst xmlns:a="http://schemas.openxmlformats.org/drawingml/2006/main">
              <a:ext uri="{FF2B5EF4-FFF2-40B4-BE49-F238E27FC236}">
                <a16:creationId xmlns:a16="http://schemas.microsoft.com/office/drawing/2014/main" id="{1175DA6A-1843-4E7E-A7CD-B83C3DD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客户画像</a:t>
            </a:r>
          </a:p>
        </p:txBody>
      </p:sp>
      <p:sp>
        <p:nvSpPr>
          <p:cNvPr id="22" name="profile-tag-0">
            <a:extLst xmlns:a="http://schemas.openxmlformats.org/drawingml/2006/main">
              <a:ext uri="{FF2B5EF4-FFF2-40B4-BE49-F238E27FC236}">
                <a16:creationId xmlns:a16="http://schemas.microsoft.com/office/drawing/2014/main" id="{6C75B69D-F687-4638-88D7-4463699E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行业</a:t>
            </a:r>
          </a:p>
        </p:txBody>
      </p:sp>
      <p:sp>
        <p:nvSpPr>
          <p:cNvPr id="23" name="profile-tag-1">
            <a:extLst xmlns:a="http://schemas.openxmlformats.org/drawingml/2006/main">
              <a:ext uri="{FF2B5EF4-FFF2-40B4-BE49-F238E27FC236}">
                <a16:creationId xmlns:a16="http://schemas.microsoft.com/office/drawing/2014/main" id="{CB414395-4F31-4095-B64E-A2467EB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规模</a:t>
            </a:r>
          </a:p>
        </p:txBody>
      </p:sp>
      <p:sp>
        <p:nvSpPr>
          <p:cNvPr id="24" name="profile-tag-2">
            <a:extLst xmlns:a="http://schemas.openxmlformats.org/drawingml/2006/main">
              <a:ext uri="{FF2B5EF4-FFF2-40B4-BE49-F238E27FC236}">
                <a16:creationId xmlns:a16="http://schemas.microsoft.com/office/drawing/2014/main" id="{32F60AEE-3699-400A-AD83-2396F3D6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96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需求</a:t>
            </a:r>
          </a:p>
        </p:txBody>
      </p:sp>
      <p:sp>
        <p:nvSpPr>
          <p:cNvPr id="25" name="profile-tag-3">
            <a:extLst xmlns:a="http://schemas.openxmlformats.org/drawingml/2006/main">
              <a:ext uri="{FF2B5EF4-FFF2-40B4-BE49-F238E27FC236}">
                <a16:creationId xmlns:a16="http://schemas.microsoft.com/office/drawing/2014/main" id="{5E619A2D-6928-416D-AB5E-8E9FE74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关系</a:t>
            </a:r>
          </a:p>
        </p:txBody>
      </p:sp>
      <p:sp>
        <p:nvSpPr>
          <p:cNvPr id="26" name="profile-tag-4">
            <a:extLst xmlns:a="http://schemas.openxmlformats.org/drawingml/2006/main">
              <a:ext uri="{FF2B5EF4-FFF2-40B4-BE49-F238E27FC236}">
                <a16:creationId xmlns:a16="http://schemas.microsoft.com/office/drawing/2014/main" id="{901110D7-3C60-45F6-9B02-9E83FDD8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风险</a:t>
            </a:r>
          </a:p>
        </p:txBody>
      </p:sp>
      <p:sp>
        <p:nvSpPr>
          <p:cNvPr id="27" name="profile-quote">
            <a:extLst xmlns:a="http://schemas.openxmlformats.org/drawingml/2006/main">
              <a:ext uri="{FF2B5EF4-FFF2-40B4-BE49-F238E27FC236}">
                <a16:creationId xmlns:a16="http://schemas.microsoft.com/office/drawing/2014/main" id="{6E8B8675-AAB5-415B-917F-C919A3E3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“把分散的客户数据，变成一页可读、可执行的商机判断。”</a:t>
            </a:r>
          </a:p>
        </p:txBody>
      </p:sp>
      <p:sp>
        <p:nvSpPr>
          <p:cNvPr id="28" name="profile-side-line">
            <a:extLst xmlns:a="http://schemas.openxmlformats.org/drawingml/2006/main">
              <a:ext uri="{FF2B5EF4-FFF2-40B4-BE49-F238E27FC236}">
                <a16:creationId xmlns:a16="http://schemas.microsoft.com/office/drawing/2014/main" id="{34D659B1-2210-4DD5-A321-9D3F961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9" name="profile-side-list">
            <a:extLst xmlns:a="http://schemas.openxmlformats.org/drawingml/2006/main">
              <a:ext uri="{FF2B5EF4-FFF2-40B4-BE49-F238E27FC236}">
                <a16:creationId xmlns:a16="http://schemas.microsoft.com/office/drawing/2014/main" id="{CFE36EE6-896D-40DD-85DB-92CB95B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476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客户画像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价值评分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产品匹配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经营摘要</a:t>
            </a:r>
          </a:p>
        </p:txBody>
      </p:sp>
    </p:spTree>
    <p:extLst>
      <p:ext uri="{BB962C8B-B14F-4D97-AF65-F5344CB8AC3E}">
        <p14:creationId xmlns:p14="http://schemas.microsoft.com/office/powerpoint/2010/main" val="890537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8">
            <a:extLst xmlns:a="http://schemas.openxmlformats.org/drawingml/2006/main">
              <a:ext uri="{FF2B5EF4-FFF2-40B4-BE49-F238E27FC236}">
                <a16:creationId xmlns:a16="http://schemas.microsoft.com/office/drawing/2014/main" id="{FD3DDC24-7E00-4E13-8D35-AAC4F46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 · 核心功能（二）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F96995B-5C85-4776-904D-3CD0B4BB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拜访作战卡：拜访前就知道该聊什么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95CDCC24-5C67-479D-84BB-7ADC53B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85737dab94787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08CA5BED-BFD1-4C8D-B9F7-B5539B7D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08</a:t>
            </a:r>
          </a:p>
        </p:txBody>
      </p:sp>
      <p:sp>
        <p:nvSpPr>
          <p:cNvPr id="6" name="visit-input">
            <a:extLst xmlns:a="http://schemas.openxmlformats.org/drawingml/2006/main">
              <a:ext uri="{FF2B5EF4-FFF2-40B4-BE49-F238E27FC236}">
                <a16:creationId xmlns:a16="http://schemas.microsoft.com/office/drawing/2014/main" id="{F66627D0-90A9-4A3E-808D-D7AA119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8575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visit-ai">
            <a:extLst xmlns:a="http://schemas.openxmlformats.org/drawingml/2006/main">
              <a:ext uri="{FF2B5EF4-FFF2-40B4-BE49-F238E27FC236}">
                <a16:creationId xmlns:a16="http://schemas.microsoft.com/office/drawing/2014/main" id="{E3466CDB-9C94-441E-B362-D2835EB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22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</a:t>
            </a:r>
          </a:p>
        </p:txBody>
      </p:sp>
      <p:sp>
        <p:nvSpPr>
          <p:cNvPr id="8" name="visit-card">
            <a:extLst xmlns:a="http://schemas.openxmlformats.org/drawingml/2006/main">
              <a:ext uri="{FF2B5EF4-FFF2-40B4-BE49-F238E27FC236}">
                <a16:creationId xmlns:a16="http://schemas.microsoft.com/office/drawing/2014/main" id="{05D006DF-C4E5-42C5-97B7-B8534C8E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1054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619500" y="3505200"/>
            <a:ext cx="933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7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29250" y="3505200"/>
            <a:ext cx="89535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sp>
        <p:nvSpPr>
          <p:cNvPr id="11" name="visit-input-t">
            <a:extLst xmlns:a="http://schemas.openxmlformats.org/drawingml/2006/main">
              <a:ext uri="{FF2B5EF4-FFF2-40B4-BE49-F238E27FC236}">
                <a16:creationId xmlns:a16="http://schemas.microsoft.com/office/drawing/2014/main" id="{DD173AB2-00F8-4FD3-97BE-DFF5DB5D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输入客户信息</a:t>
            </a:r>
          </a:p>
        </p:txBody>
      </p:sp>
      <p:sp>
        <p:nvSpPr>
          <p:cNvPr id="12" name="visit-source-0">
            <a:extLst xmlns:a="http://schemas.openxmlformats.org/drawingml/2006/main">
              <a:ext uri="{FF2B5EF4-FFF2-40B4-BE49-F238E27FC236}">
                <a16:creationId xmlns:a16="http://schemas.microsoft.com/office/drawing/2014/main" id="{D7709A7E-39C7-4B56-822C-ACCE29BB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客户档案</a:t>
            </a:r>
          </a:p>
        </p:txBody>
      </p:sp>
      <p:sp>
        <p:nvSpPr>
          <p:cNvPr id="13" name="visit-source-1">
            <a:extLst xmlns:a="http://schemas.openxmlformats.org/drawingml/2006/main">
              <a:ext uri="{FF2B5EF4-FFF2-40B4-BE49-F238E27FC236}">
                <a16:creationId xmlns:a16="http://schemas.microsoft.com/office/drawing/2014/main" id="{B8F8764E-78D6-4641-A4A5-BBC39FB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历史拜访</a:t>
            </a:r>
          </a:p>
        </p:txBody>
      </p:sp>
      <p:sp>
        <p:nvSpPr>
          <p:cNvPr id="14" name="visit-source-2">
            <a:extLst xmlns:a="http://schemas.openxmlformats.org/drawingml/2006/main">
              <a:ext uri="{FF2B5EF4-FFF2-40B4-BE49-F238E27FC236}">
                <a16:creationId xmlns:a16="http://schemas.microsoft.com/office/drawing/2014/main" id="{3A95F1BE-6F03-4EB0-B6B8-45A1D59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商机状态</a:t>
            </a:r>
          </a:p>
        </p:txBody>
      </p:sp>
      <p:sp>
        <p:nvSpPr>
          <p:cNvPr id="15" name="visit-source-3">
            <a:extLst xmlns:a="http://schemas.openxmlformats.org/drawingml/2006/main">
              <a:ext uri="{FF2B5EF4-FFF2-40B4-BE49-F238E27FC236}">
                <a16:creationId xmlns:a16="http://schemas.microsoft.com/office/drawing/2014/main" id="{CDB4944E-7A13-43A1-98E6-010E6D0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经营动态</a:t>
            </a:r>
          </a:p>
        </p:txBody>
      </p:sp>
      <p:sp>
        <p:nvSpPr>
          <p:cNvPr id="16" name="visit-card-top">
            <a:extLst xmlns:a="http://schemas.openxmlformats.org/drawingml/2006/main">
              <a:ext uri="{FF2B5EF4-FFF2-40B4-BE49-F238E27FC236}">
                <a16:creationId xmlns:a16="http://schemas.microsoft.com/office/drawing/2014/main" id="{FC18AC2E-6EC6-420F-BE39-BA406236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105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isit-card-t">
            <a:extLst xmlns:a="http://schemas.openxmlformats.org/drawingml/2006/main">
              <a:ext uri="{FF2B5EF4-FFF2-40B4-BE49-F238E27FC236}">
                <a16:creationId xmlns:a16="http://schemas.microsoft.com/office/drawing/2014/main" id="{F89BBB20-F540-44E5-8A0E-A258DEDC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 拜访作战卡</a:t>
            </a:r>
          </a:p>
        </p:txBody>
      </p:sp>
      <p:sp>
        <p:nvSpPr>
          <p:cNvPr id="18" name="visit-card-ready">
            <a:extLst xmlns:a="http://schemas.openxmlformats.org/drawingml/2006/main">
              <a:ext uri="{FF2B5EF4-FFF2-40B4-BE49-F238E27FC236}">
                <a16:creationId xmlns:a16="http://schemas.microsoft.com/office/drawing/2014/main" id="{3322C8E6-9003-4102-8BD9-E34E74C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12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自动生成</a:t>
            </a:r>
          </a:p>
        </p:txBody>
      </p:sp>
      <p:sp>
        <p:nvSpPr>
          <p:cNvPr id="19" name="visit-num-0">
            <a:extLst xmlns:a="http://schemas.openxmlformats.org/drawingml/2006/main">
              <a:ext uri="{FF2B5EF4-FFF2-40B4-BE49-F238E27FC236}">
                <a16:creationId xmlns:a16="http://schemas.microsoft.com/office/drawing/2014/main" id="{E4A4E40A-B4DD-44F1-BC6C-4EEBA90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0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20" name="visit-label-0">
            <a:extLst xmlns:a="http://schemas.openxmlformats.org/drawingml/2006/main">
              <a:ext uri="{FF2B5EF4-FFF2-40B4-BE49-F238E27FC236}">
                <a16:creationId xmlns:a16="http://schemas.microsoft.com/office/drawing/2014/main" id="{6FB927BD-5B61-472E-80F0-D8C1AF87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241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拜访目标</a:t>
            </a:r>
          </a:p>
        </p:txBody>
      </p:sp>
      <p:sp>
        <p:nvSpPr>
          <p:cNvPr id="21" name="visit-line-0">
            <a:extLst xmlns:a="http://schemas.openxmlformats.org/drawingml/2006/main">
              <a:ext uri="{FF2B5EF4-FFF2-40B4-BE49-F238E27FC236}">
                <a16:creationId xmlns:a16="http://schemas.microsoft.com/office/drawing/2014/main" id="{C2286537-A9B7-490F-9EBB-88D4560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明确本次拜访要达成什么</a:t>
            </a:r>
          </a:p>
        </p:txBody>
      </p:sp>
      <p:sp>
        <p:nvSpPr>
          <p:cNvPr id="22" name="visit-num-1">
            <a:extLst xmlns:a="http://schemas.openxmlformats.org/drawingml/2006/main">
              <a:ext uri="{FF2B5EF4-FFF2-40B4-BE49-F238E27FC236}">
                <a16:creationId xmlns:a16="http://schemas.microsoft.com/office/drawing/2014/main" id="{59CA7CCA-6B64-42C4-9DEA-5BB53C43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0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23" name="visit-label-1">
            <a:extLst xmlns:a="http://schemas.openxmlformats.org/drawingml/2006/main">
              <a:ext uri="{FF2B5EF4-FFF2-40B4-BE49-F238E27FC236}">
                <a16:creationId xmlns:a16="http://schemas.microsoft.com/office/drawing/2014/main" id="{C0B41B37-D2C6-4B12-8DC5-6E2AC2F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沟通重点</a:t>
            </a:r>
          </a:p>
        </p:txBody>
      </p:sp>
      <p:sp>
        <p:nvSpPr>
          <p:cNvPr id="24" name="visit-line-1">
            <a:extLst xmlns:a="http://schemas.openxmlformats.org/drawingml/2006/main">
              <a:ext uri="{FF2B5EF4-FFF2-40B4-BE49-F238E27FC236}">
                <a16:creationId xmlns:a16="http://schemas.microsoft.com/office/drawing/2014/main" id="{454FF917-9337-458C-8484-1078D17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聚焦客户需求与产品切入点</a:t>
            </a:r>
          </a:p>
        </p:txBody>
      </p:sp>
      <p:sp>
        <p:nvSpPr>
          <p:cNvPr id="25" name="visit-num-2">
            <a:extLst xmlns:a="http://schemas.openxmlformats.org/drawingml/2006/main">
              <a:ext uri="{FF2B5EF4-FFF2-40B4-BE49-F238E27FC236}">
                <a16:creationId xmlns:a16="http://schemas.microsoft.com/office/drawing/2014/main" id="{72ED7FCE-58DB-4C6A-8AA2-D38AA21B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0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26" name="visit-label-2">
            <a:extLst xmlns:a="http://schemas.openxmlformats.org/drawingml/2006/main">
              <a:ext uri="{FF2B5EF4-FFF2-40B4-BE49-F238E27FC236}">
                <a16:creationId xmlns:a16="http://schemas.microsoft.com/office/drawing/2014/main" id="{2228FC0D-A284-4C31-9F83-221E90E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风险提示</a:t>
            </a:r>
          </a:p>
        </p:txBody>
      </p:sp>
      <p:sp>
        <p:nvSpPr>
          <p:cNvPr id="27" name="visit-line-2">
            <a:extLst xmlns:a="http://schemas.openxmlformats.org/drawingml/2006/main">
              <a:ext uri="{FF2B5EF4-FFF2-40B4-BE49-F238E27FC236}">
                <a16:creationId xmlns:a16="http://schemas.microsoft.com/office/drawing/2014/main" id="{44100881-33C3-4A4C-80FE-EB04749F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识别重复拜访与跟进风险</a:t>
            </a:r>
          </a:p>
        </p:txBody>
      </p:sp>
      <p:sp>
        <p:nvSpPr>
          <p:cNvPr id="28" name="visit-num-3">
            <a:extLst xmlns:a="http://schemas.openxmlformats.org/drawingml/2006/main">
              <a:ext uri="{FF2B5EF4-FFF2-40B4-BE49-F238E27FC236}">
                <a16:creationId xmlns:a16="http://schemas.microsoft.com/office/drawing/2014/main" id="{00C5BE63-2A9E-4A21-B081-FA87B477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0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</a:t>
            </a:r>
          </a:p>
        </p:txBody>
      </p:sp>
      <p:sp>
        <p:nvSpPr>
          <p:cNvPr id="29" name="visit-label-3">
            <a:extLst xmlns:a="http://schemas.openxmlformats.org/drawingml/2006/main">
              <a:ext uri="{FF2B5EF4-FFF2-40B4-BE49-F238E27FC236}">
                <a16:creationId xmlns:a16="http://schemas.microsoft.com/office/drawing/2014/main" id="{50EB726E-208B-40E3-8941-06CC45B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下一步行动</a:t>
            </a:r>
          </a:p>
        </p:txBody>
      </p:sp>
      <p:sp>
        <p:nvSpPr>
          <p:cNvPr id="30" name="visit-line-3">
            <a:extLst xmlns:a="http://schemas.openxmlformats.org/drawingml/2006/main">
              <a:ext uri="{FF2B5EF4-FFF2-40B4-BE49-F238E27FC236}">
                <a16:creationId xmlns:a16="http://schemas.microsoft.com/office/drawing/2014/main" id="{3A3F7E5D-2A91-44AC-9730-70F3F496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生成可执行的后续任务</a:t>
            </a:r>
          </a:p>
        </p:txBody>
      </p:sp>
      <p:sp>
        <p:nvSpPr>
          <p:cNvPr id="31" name="visit-caption">
            <a:extLst xmlns:a="http://schemas.openxmlformats.org/drawingml/2006/main">
              <a:ext uri="{FF2B5EF4-FFF2-40B4-BE49-F238E27FC236}">
                <a16:creationId xmlns:a16="http://schemas.microsoft.com/office/drawing/2014/main" id="{53095FD3-2482-439E-808C-5E57413E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客户信息 → AI 分析 → 拜访作战卡</a:t>
            </a:r>
          </a:p>
        </p:txBody>
      </p:sp>
    </p:spTree>
    <p:extLst>
      <p:ext uri="{BB962C8B-B14F-4D97-AF65-F5344CB8AC3E}">
        <p14:creationId xmlns:p14="http://schemas.microsoft.com/office/powerpoint/2010/main" val="890537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9">
            <a:extLst xmlns:a="http://schemas.openxmlformats.org/drawingml/2006/main">
              <a:ext uri="{FF2B5EF4-FFF2-40B4-BE49-F238E27FC236}">
                <a16:creationId xmlns:a16="http://schemas.microsoft.com/office/drawing/2014/main" id="{BEF85CD7-95E9-4BD1-893B-1C072F19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 · 核心功能（三）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6D9C0DD-2CD3-4CF4-80B0-68A2CEAE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智能问答：不用翻 Excel，不用找报表，直接问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F8086057-A293-4A97-84DB-3A4D822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4ac425775408f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70E8DC11-73A0-4213-96C5-616EDBC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09</a:t>
            </a:r>
          </a:p>
        </p:txBody>
      </p:sp>
      <p:sp>
        <p:nvSpPr>
          <p:cNvPr id="6" name="chat-window">
            <a:extLst xmlns:a="http://schemas.openxmlformats.org/drawingml/2006/main">
              <a:ext uri="{FF2B5EF4-FFF2-40B4-BE49-F238E27FC236}">
                <a16:creationId xmlns:a16="http://schemas.microsoft.com/office/drawing/2014/main" id="{DC7F50C5-7C42-4E74-A969-472C80E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5438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hat-head">
            <a:extLst xmlns:a="http://schemas.openxmlformats.org/drawingml/2006/main">
              <a:ext uri="{FF2B5EF4-FFF2-40B4-BE49-F238E27FC236}">
                <a16:creationId xmlns:a16="http://schemas.microsoft.com/office/drawing/2014/main" id="{FFF47D29-3B27-4E06-A2B1-DDC031C3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7543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t-ai">
            <a:extLst xmlns:a="http://schemas.openxmlformats.org/drawingml/2006/main">
              <a:ext uri="{FF2B5EF4-FFF2-40B4-BE49-F238E27FC236}">
                <a16:creationId xmlns:a16="http://schemas.microsoft.com/office/drawing/2014/main" id="{29E2B5B7-CAD0-48AD-87A1-C76950A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</a:t>
            </a:r>
          </a:p>
        </p:txBody>
      </p:sp>
      <p:sp>
        <p:nvSpPr>
          <p:cNvPr id="9" name="chat-head-t">
            <a:extLst xmlns:a="http://schemas.openxmlformats.org/drawingml/2006/main">
              <a:ext uri="{FF2B5EF4-FFF2-40B4-BE49-F238E27FC236}">
                <a16:creationId xmlns:a16="http://schemas.microsoft.com/office/drawing/2014/main" id="{EDD266F0-023E-487A-9359-1531D269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智拓 Copilot</a:t>
            </a:r>
          </a:p>
        </p:txBody>
      </p:sp>
      <p:sp>
        <p:nvSpPr>
          <p:cNvPr id="10" name="chat-user">
            <a:extLst xmlns:a="http://schemas.openxmlformats.org/drawingml/2006/main">
              <a:ext uri="{FF2B5EF4-FFF2-40B4-BE49-F238E27FC236}">
                <a16:creationId xmlns:a16="http://schemas.microsoft.com/office/drawing/2014/main" id="{EF7DB0DA-7AE2-47BD-A66C-21717B5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4800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9525">
            <a:solidFill>
              <a:srgbClr val="2263E6"/>
            </a:solidFill>
            <a:prstDash val="solid"/>
          </a:ln>
        </p:spPr>
      </p:sp>
      <p:sp>
        <p:nvSpPr>
          <p:cNvPr id="11" name="chat-user-t">
            <a:extLst xmlns:a="http://schemas.openxmlformats.org/drawingml/2006/main">
              <a:ext uri="{FF2B5EF4-FFF2-40B4-BE49-F238E27FC236}">
                <a16:creationId xmlns:a16="http://schemas.microsoft.com/office/drawing/2014/main" id="{3FA0EC71-B4DB-4C4F-9F43-5AEEBF1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本周南山区新增多少商机？</a:t>
            </a:r>
          </a:p>
        </p:txBody>
      </p:sp>
      <p:sp>
        <p:nvSpPr>
          <p:cNvPr id="12" name="chat-answer">
            <a:extLst xmlns:a="http://schemas.openxmlformats.org/drawingml/2006/main">
              <a:ext uri="{FF2B5EF4-FFF2-40B4-BE49-F238E27FC236}">
                <a16:creationId xmlns:a16="http://schemas.microsoft.com/office/drawing/2014/main" id="{3AE789DD-B6B3-49BD-9C59-42FE3FD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62865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at-answer-t">
            <a:extLst xmlns:a="http://schemas.openxmlformats.org/drawingml/2006/main">
              <a:ext uri="{FF2B5EF4-FFF2-40B4-BE49-F238E27FC236}">
                <a16:creationId xmlns:a16="http://schemas.microsoft.com/office/drawing/2014/main" id="{E0E08F7B-D507-4AE4-A5DE-B790454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正在授权范围内检索 CRM 与经营数据</a:t>
            </a:r>
          </a:p>
        </p:txBody>
      </p:sp>
      <p:sp>
        <p:nvSpPr>
          <p:cNvPr id="14" name="qa-0">
            <a:extLst xmlns:a="http://schemas.openxmlformats.org/drawingml/2006/main">
              <a:ext uri="{FF2B5EF4-FFF2-40B4-BE49-F238E27FC236}">
                <a16:creationId xmlns:a16="http://schemas.microsoft.com/office/drawing/2014/main" id="{517F0E61-5F1A-47E0-946E-8520E3B7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25336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a-l-0">
            <a:extLst xmlns:a="http://schemas.openxmlformats.org/drawingml/2006/main">
              <a:ext uri="{FF2B5EF4-FFF2-40B4-BE49-F238E27FC236}">
                <a16:creationId xmlns:a16="http://schemas.microsoft.com/office/drawing/2014/main" id="{2B35B298-DAD8-4388-A498-A116A22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新增商机</a:t>
            </a:r>
          </a:p>
        </p:txBody>
      </p:sp>
      <p:sp>
        <p:nvSpPr>
          <p:cNvPr id="16" name="qa-v-0">
            <a:extLst xmlns:a="http://schemas.openxmlformats.org/drawingml/2006/main">
              <a:ext uri="{FF2B5EF4-FFF2-40B4-BE49-F238E27FC236}">
                <a16:creationId xmlns:a16="http://schemas.microsoft.com/office/drawing/2014/main" id="{A19BDCD9-BF1E-43D3-9207-A527A3A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实时返回</a:t>
            </a:r>
          </a:p>
        </p:txBody>
      </p:sp>
      <p:sp>
        <p:nvSpPr>
          <p:cNvPr id="17" name="qa-1">
            <a:extLst xmlns:a="http://schemas.openxmlformats.org/drawingml/2006/main">
              <a:ext uri="{FF2B5EF4-FFF2-40B4-BE49-F238E27FC236}">
                <a16:creationId xmlns:a16="http://schemas.microsoft.com/office/drawing/2014/main" id="{465EFFA8-75E6-4FB8-A18B-E8E8CBF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91000"/>
            <a:ext cx="25336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a-l-1">
            <a:extLst xmlns:a="http://schemas.openxmlformats.org/drawingml/2006/main">
              <a:ext uri="{FF2B5EF4-FFF2-40B4-BE49-F238E27FC236}">
                <a16:creationId xmlns:a16="http://schemas.microsoft.com/office/drawing/2014/main" id="{323360B9-41EB-4203-AC3B-E0195C17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拜访完成</a:t>
            </a:r>
          </a:p>
        </p:txBody>
      </p:sp>
      <p:sp>
        <p:nvSpPr>
          <p:cNvPr id="19" name="qa-v-1">
            <a:extLst xmlns:a="http://schemas.openxmlformats.org/drawingml/2006/main">
              <a:ext uri="{FF2B5EF4-FFF2-40B4-BE49-F238E27FC236}">
                <a16:creationId xmlns:a16="http://schemas.microsoft.com/office/drawing/2014/main" id="{FDBD1DB4-C008-404B-A5E5-E6E9ADAE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9100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实时返回</a:t>
            </a:r>
          </a:p>
        </p:txBody>
      </p:sp>
      <p:sp>
        <p:nvSpPr>
          <p:cNvPr id="20" name="qa-2">
            <a:extLst xmlns:a="http://schemas.openxmlformats.org/drawingml/2006/main">
              <a:ext uri="{FF2B5EF4-FFF2-40B4-BE49-F238E27FC236}">
                <a16:creationId xmlns:a16="http://schemas.microsoft.com/office/drawing/2014/main" id="{AFB77000-B028-454A-89EC-F2016FB2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5336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qa-l-2">
            <a:extLst xmlns:a="http://schemas.openxmlformats.org/drawingml/2006/main">
              <a:ext uri="{FF2B5EF4-FFF2-40B4-BE49-F238E27FC236}">
                <a16:creationId xmlns:a16="http://schemas.microsoft.com/office/drawing/2014/main" id="{F9393D60-6CD8-4D5B-A97C-6E3DCC72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成交金额</a:t>
            </a:r>
          </a:p>
        </p:txBody>
      </p:sp>
      <p:sp>
        <p:nvSpPr>
          <p:cNvPr id="22" name="qa-v-2">
            <a:extLst xmlns:a="http://schemas.openxmlformats.org/drawingml/2006/main">
              <a:ext uri="{FF2B5EF4-FFF2-40B4-BE49-F238E27FC236}">
                <a16:creationId xmlns:a16="http://schemas.microsoft.com/office/drawing/2014/main" id="{2B927076-F75C-46B5-8E55-22C73CD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实时返回</a:t>
            </a:r>
          </a:p>
        </p:txBody>
      </p:sp>
      <p:sp>
        <p:nvSpPr>
          <p:cNvPr id="23" name="qa-3">
            <a:extLst xmlns:a="http://schemas.openxmlformats.org/drawingml/2006/main">
              <a:ext uri="{FF2B5EF4-FFF2-40B4-BE49-F238E27FC236}">
                <a16:creationId xmlns:a16="http://schemas.microsoft.com/office/drawing/2014/main" id="{F52A197F-D64A-4B90-8A3B-4AA30235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43450"/>
            <a:ext cx="25336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a-l-3">
            <a:extLst xmlns:a="http://schemas.openxmlformats.org/drawingml/2006/main">
              <a:ext uri="{FF2B5EF4-FFF2-40B4-BE49-F238E27FC236}">
                <a16:creationId xmlns:a16="http://schemas.microsoft.com/office/drawing/2014/main" id="{AAFCB869-405A-47A9-8BED-EC9BF49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4345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重点客户</a:t>
            </a:r>
          </a:p>
        </p:txBody>
      </p:sp>
      <p:sp>
        <p:nvSpPr>
          <p:cNvPr id="25" name="qa-v-3">
            <a:extLst xmlns:a="http://schemas.openxmlformats.org/drawingml/2006/main">
              <a:ext uri="{FF2B5EF4-FFF2-40B4-BE49-F238E27FC236}">
                <a16:creationId xmlns:a16="http://schemas.microsoft.com/office/drawing/2014/main" id="{1A08BD8A-8AD2-416E-94A6-A7F8D50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434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实时返回</a:t>
            </a:r>
          </a:p>
        </p:txBody>
      </p:sp>
      <p:sp>
        <p:nvSpPr>
          <p:cNvPr id="26" name="qa-side-title">
            <a:extLst xmlns:a="http://schemas.openxmlformats.org/drawingml/2006/main">
              <a:ext uri="{FF2B5EF4-FFF2-40B4-BE49-F238E27FC236}">
                <a16:creationId xmlns:a16="http://schemas.microsoft.com/office/drawing/2014/main" id="{4A5CC8AF-37F3-4627-A776-52034500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自然语言查询</a:t>
            </a:r>
          </a:p>
        </p:txBody>
      </p:sp>
      <p:sp>
        <p:nvSpPr>
          <p:cNvPr id="27" name="qa-side-desc">
            <a:extLst xmlns:a="http://schemas.openxmlformats.org/drawingml/2006/main">
              <a:ext uri="{FF2B5EF4-FFF2-40B4-BE49-F238E27FC236}">
                <a16:creationId xmlns:a16="http://schemas.microsoft.com/office/drawing/2014/main" id="{B343CA6E-2931-4A94-9EFD-E0E6723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拜访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商机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成交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CRM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经营数据</a:t>
            </a:r>
          </a:p>
        </p:txBody>
      </p:sp>
      <p:sp>
        <p:nvSpPr>
          <p:cNvPr id="28" name="qa-side-note">
            <a:extLst xmlns:a="http://schemas.openxmlformats.org/drawingml/2006/main">
              <a:ext uri="{FF2B5EF4-FFF2-40B4-BE49-F238E27FC236}">
                <a16:creationId xmlns:a16="http://schemas.microsoft.com/office/drawing/2014/main" id="{F71B3CFB-89C7-44E2-ABF6-C3F8147F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015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系统自动理解问题、校验权限并返回经营结果。</a:t>
            </a:r>
          </a:p>
        </p:txBody>
      </p:sp>
    </p:spTree>
    <p:extLst>
      <p:ext uri="{BB962C8B-B14F-4D97-AF65-F5344CB8AC3E}">
        <p14:creationId xmlns:p14="http://schemas.microsoft.com/office/powerpoint/2010/main" val="997056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0">
            <a:extLst xmlns:a="http://schemas.openxmlformats.org/drawingml/2006/main">
              <a:ext uri="{FF2B5EF4-FFF2-40B4-BE49-F238E27FC236}">
                <a16:creationId xmlns:a16="http://schemas.microsoft.com/office/drawing/2014/main" id="{A03908B3-F118-4053-BB32-13F4897C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 · 核心功能（四）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650FF6F-9A8E-43C4-B5BF-508A113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周报：基于真实经营数据自动生成，不让 AI“编”周报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C20EBE54-8BBB-4119-A8A3-101794DE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bbfe508994102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D979120-A864-4CD0-9F76-68A6C3B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10</a:t>
            </a:r>
          </a:p>
        </p:txBody>
      </p:sp>
      <p:sp>
        <p:nvSpPr>
          <p:cNvPr id="6" name="report-data">
            <a:extLst xmlns:a="http://schemas.openxmlformats.org/drawingml/2006/main">
              <a:ext uri="{FF2B5EF4-FFF2-40B4-BE49-F238E27FC236}">
                <a16:creationId xmlns:a16="http://schemas.microsoft.com/office/drawing/2014/main" id="{7F503A2D-B0A1-44A7-82E1-5E09F7D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6670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port-ai">
            <a:extLst xmlns:a="http://schemas.openxmlformats.org/drawingml/2006/main">
              <a:ext uri="{FF2B5EF4-FFF2-40B4-BE49-F238E27FC236}">
                <a16:creationId xmlns:a16="http://schemas.microsoft.com/office/drawing/2014/main" id="{3A9E8146-E547-476A-BED8-E8E07CE2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22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</a:t>
            </a:r>
          </a:p>
        </p:txBody>
      </p:sp>
      <p:sp>
        <p:nvSpPr>
          <p:cNvPr id="8" name="report-out">
            <a:extLst xmlns:a="http://schemas.openxmlformats.org/drawingml/2006/main">
              <a:ext uri="{FF2B5EF4-FFF2-40B4-BE49-F238E27FC236}">
                <a16:creationId xmlns:a16="http://schemas.microsoft.com/office/drawing/2014/main" id="{E63C94D8-8E37-4F83-85E8-9165CAF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8768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29000" y="3552825"/>
            <a:ext cx="11239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48300" y="3552825"/>
            <a:ext cx="1104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sp>
        <p:nvSpPr>
          <p:cNvPr id="11" name="report-data-t">
            <a:extLst xmlns:a="http://schemas.openxmlformats.org/drawingml/2006/main">
              <a:ext uri="{FF2B5EF4-FFF2-40B4-BE49-F238E27FC236}">
                <a16:creationId xmlns:a16="http://schemas.microsoft.com/office/drawing/2014/main" id="{78C7149F-1DB7-4E71-AB94-22AB95F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真实经营数据</a:t>
            </a:r>
          </a:p>
        </p:txBody>
      </p:sp>
      <p:sp>
        <p:nvSpPr>
          <p:cNvPr id="12" name="report-src-0">
            <a:extLst xmlns:a="http://schemas.openxmlformats.org/drawingml/2006/main">
              <a:ext uri="{FF2B5EF4-FFF2-40B4-BE49-F238E27FC236}">
                <a16:creationId xmlns:a16="http://schemas.microsoft.com/office/drawing/2014/main" id="{0AB1556B-AB21-454B-90EC-17BFD4B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商机与拜访</a:t>
            </a:r>
          </a:p>
        </p:txBody>
      </p:sp>
      <p:sp>
        <p:nvSpPr>
          <p:cNvPr id="13" name="report-src-1">
            <a:extLst xmlns:a="http://schemas.openxmlformats.org/drawingml/2006/main">
              <a:ext uri="{FF2B5EF4-FFF2-40B4-BE49-F238E27FC236}">
                <a16:creationId xmlns:a16="http://schemas.microsoft.com/office/drawing/2014/main" id="{FA8DCB33-35B3-4B74-905B-9199B123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任务与排期</a:t>
            </a:r>
          </a:p>
        </p:txBody>
      </p:sp>
      <p:sp>
        <p:nvSpPr>
          <p:cNvPr id="14" name="report-src-2">
            <a:extLst xmlns:a="http://schemas.openxmlformats.org/drawingml/2006/main">
              <a:ext uri="{FF2B5EF4-FFF2-40B4-BE49-F238E27FC236}">
                <a16:creationId xmlns:a16="http://schemas.microsoft.com/office/drawing/2014/main" id="{D73FD6EE-7648-485D-BB99-4A5A477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成交与跟进</a:t>
            </a:r>
          </a:p>
        </p:txBody>
      </p:sp>
      <p:sp>
        <p:nvSpPr>
          <p:cNvPr id="15" name="report-src-3">
            <a:extLst xmlns:a="http://schemas.openxmlformats.org/drawingml/2006/main">
              <a:ext uri="{FF2B5EF4-FFF2-40B4-BE49-F238E27FC236}">
                <a16:creationId xmlns:a16="http://schemas.microsoft.com/office/drawing/2014/main" id="{42B75120-C9EB-4B19-86C5-75F3918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组织经营指标</a:t>
            </a:r>
          </a:p>
        </p:txBody>
      </p:sp>
      <p:sp>
        <p:nvSpPr>
          <p:cNvPr id="16" name="report-head">
            <a:extLst xmlns:a="http://schemas.openxmlformats.org/drawingml/2006/main">
              <a:ext uri="{FF2B5EF4-FFF2-40B4-BE49-F238E27FC236}">
                <a16:creationId xmlns:a16="http://schemas.microsoft.com/office/drawing/2014/main" id="{8B7C383C-68CB-4AA4-8A14-57F8A20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port-head-t">
            <a:extLst xmlns:a="http://schemas.openxmlformats.org/drawingml/2006/main">
              <a:ext uri="{FF2B5EF4-FFF2-40B4-BE49-F238E27FC236}">
                <a16:creationId xmlns:a16="http://schemas.microsoft.com/office/drawing/2014/main" id="{688EAFD5-C57B-4E9D-A410-C5D566D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自动生成经营周报</a:t>
            </a:r>
          </a:p>
        </p:txBody>
      </p:sp>
      <p:sp>
        <p:nvSpPr>
          <p:cNvPr id="18" name="report-item-0">
            <a:extLst xmlns:a="http://schemas.openxmlformats.org/drawingml/2006/main">
              <a:ext uri="{FF2B5EF4-FFF2-40B4-BE49-F238E27FC236}">
                <a16:creationId xmlns:a16="http://schemas.microsoft.com/office/drawing/2014/main" id="{C0F37627-79EE-427F-9CEF-F122DF1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1981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port-title-0">
            <a:extLst xmlns:a="http://schemas.openxmlformats.org/drawingml/2006/main">
              <a:ext uri="{FF2B5EF4-FFF2-40B4-BE49-F238E27FC236}">
                <a16:creationId xmlns:a16="http://schemas.microsoft.com/office/drawing/2014/main" id="{A967CFDE-5DBD-494D-9AE5-B1E52116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个人周报</a:t>
            </a:r>
          </a:p>
        </p:txBody>
      </p:sp>
      <p:sp>
        <p:nvSpPr>
          <p:cNvPr id="20" name="report-desc-0">
            <a:extLst xmlns:a="http://schemas.openxmlformats.org/drawingml/2006/main">
              <a:ext uri="{FF2B5EF4-FFF2-40B4-BE49-F238E27FC236}">
                <a16:creationId xmlns:a16="http://schemas.microsoft.com/office/drawing/2014/main" id="{9C4DE10D-C6E2-4203-9A30-6B960B3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本周进展</a:t>
            </a:r>
          </a:p>
        </p:txBody>
      </p:sp>
      <p:sp>
        <p:nvSpPr>
          <p:cNvPr id="21" name="report-item-1">
            <a:extLst xmlns:a="http://schemas.openxmlformats.org/drawingml/2006/main">
              <a:ext uri="{FF2B5EF4-FFF2-40B4-BE49-F238E27FC236}">
                <a16:creationId xmlns:a16="http://schemas.microsoft.com/office/drawing/2014/main" id="{38DED814-4373-4FA3-8A28-606BB8E9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1981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port-title-1">
            <a:extLst xmlns:a="http://schemas.openxmlformats.org/drawingml/2006/main">
              <a:ext uri="{FF2B5EF4-FFF2-40B4-BE49-F238E27FC236}">
                <a16:creationId xmlns:a16="http://schemas.microsoft.com/office/drawing/2014/main" id="{DD48AABA-BC3A-4220-9FC2-C2E17E8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下周计划</a:t>
            </a:r>
          </a:p>
        </p:txBody>
      </p:sp>
      <p:sp>
        <p:nvSpPr>
          <p:cNvPr id="23" name="report-desc-1">
            <a:extLst xmlns:a="http://schemas.openxmlformats.org/drawingml/2006/main">
              <a:ext uri="{FF2B5EF4-FFF2-40B4-BE49-F238E27FC236}">
                <a16:creationId xmlns:a16="http://schemas.microsoft.com/office/drawing/2014/main" id="{8EF8B6BD-CA65-4C94-B021-75D137EC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任务与节奏</a:t>
            </a:r>
          </a:p>
        </p:txBody>
      </p:sp>
      <p:sp>
        <p:nvSpPr>
          <p:cNvPr id="24" name="report-item-2">
            <a:extLst xmlns:a="http://schemas.openxmlformats.org/drawingml/2006/main">
              <a:ext uri="{FF2B5EF4-FFF2-40B4-BE49-F238E27FC236}">
                <a16:creationId xmlns:a16="http://schemas.microsoft.com/office/drawing/2014/main" id="{4C363637-AAFD-4566-9A11-63CCB125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1981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port-title-2">
            <a:extLst xmlns:a="http://schemas.openxmlformats.org/drawingml/2006/main">
              <a:ext uri="{FF2B5EF4-FFF2-40B4-BE49-F238E27FC236}">
                <a16:creationId xmlns:a16="http://schemas.microsoft.com/office/drawing/2014/main" id="{081C0ED6-701E-4710-8291-AD6BF0E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部门周总结</a:t>
            </a:r>
          </a:p>
        </p:txBody>
      </p:sp>
      <p:sp>
        <p:nvSpPr>
          <p:cNvPr id="26" name="report-desc-2">
            <a:extLst xmlns:a="http://schemas.openxmlformats.org/drawingml/2006/main">
              <a:ext uri="{FF2B5EF4-FFF2-40B4-BE49-F238E27FC236}">
                <a16:creationId xmlns:a16="http://schemas.microsoft.com/office/drawing/2014/main" id="{5C177C73-A8D0-40E2-9310-44FC653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05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团队经营</a:t>
            </a:r>
          </a:p>
        </p:txBody>
      </p:sp>
      <p:sp>
        <p:nvSpPr>
          <p:cNvPr id="27" name="report-item-3">
            <a:extLst xmlns:a="http://schemas.openxmlformats.org/drawingml/2006/main">
              <a:ext uri="{FF2B5EF4-FFF2-40B4-BE49-F238E27FC236}">
                <a16:creationId xmlns:a16="http://schemas.microsoft.com/office/drawing/2014/main" id="{FB043E6E-EE42-4F0B-9DB8-C8614266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981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port-title-3">
            <a:extLst xmlns:a="http://schemas.openxmlformats.org/drawingml/2006/main">
              <a:ext uri="{FF2B5EF4-FFF2-40B4-BE49-F238E27FC236}">
                <a16:creationId xmlns:a16="http://schemas.microsoft.com/office/drawing/2014/main" id="{F0BE3544-5F92-4616-90AA-E8D09242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分公司总结</a:t>
            </a:r>
          </a:p>
        </p:txBody>
      </p:sp>
      <p:sp>
        <p:nvSpPr>
          <p:cNvPr id="29" name="report-desc-3">
            <a:extLst xmlns:a="http://schemas.openxmlformats.org/drawingml/2006/main">
              <a:ext uri="{FF2B5EF4-FFF2-40B4-BE49-F238E27FC236}">
                <a16:creationId xmlns:a16="http://schemas.microsoft.com/office/drawing/2014/main" id="{4C2DD57C-E789-4C1C-A3D5-4BE4741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组织经营</a:t>
            </a:r>
          </a:p>
        </p:txBody>
      </p:sp>
      <p:sp>
        <p:nvSpPr>
          <p:cNvPr id="30" name="report-caption">
            <a:extLst xmlns:a="http://schemas.openxmlformats.org/drawingml/2006/main">
              <a:ext uri="{FF2B5EF4-FFF2-40B4-BE49-F238E27FC236}">
                <a16:creationId xmlns:a16="http://schemas.microsoft.com/office/drawing/2014/main" id="{F99AF62C-33DA-44CC-A453-DD7DCBD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数据 → AI → 报告</a:t>
            </a:r>
          </a:p>
        </p:txBody>
      </p:sp>
    </p:spTree>
    <p:extLst>
      <p:ext uri="{BB962C8B-B14F-4D97-AF65-F5344CB8AC3E}">
        <p14:creationId xmlns:p14="http://schemas.microsoft.com/office/powerpoint/2010/main" val="9970562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11">
            <a:extLst xmlns:a="http://schemas.openxmlformats.org/drawingml/2006/main">
              <a:ext uri="{FF2B5EF4-FFF2-40B4-BE49-F238E27FC236}">
                <a16:creationId xmlns:a16="http://schemas.microsoft.com/office/drawing/2014/main" id="{58BFB8FA-7B39-4A23-A2E8-D7B63E3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 · 管理驾驶舱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1622FE5-07D1-43BD-9519-F802C10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同一套数据，按组织层级逐级汇总、逐级下钻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26B0C156-268A-4894-81E2-20197149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c6d3b167746ea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CDB03498-6DFA-4CC4-95F5-0AC3B87A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11</a:t>
            </a:r>
          </a:p>
        </p:txBody>
      </p:sp>
      <p:sp>
        <p:nvSpPr>
          <p:cNvPr id="6" name="cockpit-intro">
            <a:extLst xmlns:a="http://schemas.openxmlformats.org/drawingml/2006/main">
              <a:ext uri="{FF2B5EF4-FFF2-40B4-BE49-F238E27FC236}">
                <a16:creationId xmlns:a16="http://schemas.microsoft.com/office/drawing/2014/main" id="{2B537CF6-EFA8-4E9B-A432-C1FE4426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每个人只看该看的范围；管理者能沿组织链路看清经营状态。</a:t>
            </a:r>
          </a:p>
        </p:txBody>
      </p:sp>
      <p:sp>
        <p:nvSpPr>
          <p:cNvPr id="7" name="level-0">
            <a:extLst xmlns:a="http://schemas.openxmlformats.org/drawingml/2006/main">
              <a:ext uri="{FF2B5EF4-FFF2-40B4-BE49-F238E27FC236}">
                <a16:creationId xmlns:a16="http://schemas.microsoft.com/office/drawing/2014/main" id="{6F3A10EC-D441-4C3A-8DAE-597CBFD6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381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level-dot-0">
            <a:extLst xmlns:a="http://schemas.openxmlformats.org/drawingml/2006/main">
              <a:ext uri="{FF2B5EF4-FFF2-40B4-BE49-F238E27FC236}">
                <a16:creationId xmlns:a16="http://schemas.microsoft.com/office/drawing/2014/main" id="{685B83CB-74B6-46D3-BBE4-EC0F6C45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9" name="level-role-0">
            <a:extLst xmlns:a="http://schemas.openxmlformats.org/drawingml/2006/main">
              <a:ext uri="{FF2B5EF4-FFF2-40B4-BE49-F238E27FC236}">
                <a16:creationId xmlns:a16="http://schemas.microsoft.com/office/drawing/2014/main" id="{EB62F102-1839-4F3A-A02C-BC6F2458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客户经理</a:t>
            </a:r>
          </a:p>
        </p:txBody>
      </p:sp>
      <p:sp>
        <p:nvSpPr>
          <p:cNvPr id="10" name="level-scope-0">
            <a:extLst xmlns:a="http://schemas.openxmlformats.org/drawingml/2006/main">
              <a:ext uri="{FF2B5EF4-FFF2-40B4-BE49-F238E27FC236}">
                <a16:creationId xmlns:a16="http://schemas.microsoft.com/office/drawing/2014/main" id="{6921D530-AA6F-47E4-B0C8-BAC85BE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看本人数据</a:t>
            </a:r>
          </a:p>
        </p:txBody>
      </p:sp>
      <p:sp>
        <p:nvSpPr>
          <p:cNvPr id="11" name="level-desc-0">
            <a:extLst xmlns:a="http://schemas.openxmlformats.org/drawingml/2006/main">
              <a:ext uri="{FF2B5EF4-FFF2-40B4-BE49-F238E27FC236}">
                <a16:creationId xmlns:a16="http://schemas.microsoft.com/office/drawing/2014/main" id="{2B05CA56-CCE6-40A1-B7F5-BD922CB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本人商机 · 拜访 · 跟进</a:t>
            </a:r>
          </a:p>
        </p:txBody>
      </p:sp>
      <p:sp>
        <p:nvSpPr>
          <p:cNvPr id="12" name="level-1">
            <a:extLst xmlns:a="http://schemas.openxmlformats.org/drawingml/2006/main">
              <a:ext uri="{FF2B5EF4-FFF2-40B4-BE49-F238E27FC236}">
                <a16:creationId xmlns:a16="http://schemas.microsoft.com/office/drawing/2014/main" id="{CD884891-BB48-4B45-A734-A747F1B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2381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level-dot-1">
            <a:extLst xmlns:a="http://schemas.openxmlformats.org/drawingml/2006/main">
              <a:ext uri="{FF2B5EF4-FFF2-40B4-BE49-F238E27FC236}">
                <a16:creationId xmlns:a16="http://schemas.microsoft.com/office/drawing/2014/main" id="{819B61A3-B677-4DB6-89ED-9C93DAA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2</a:t>
            </a:r>
          </a:p>
        </p:txBody>
      </p:sp>
      <p:sp>
        <p:nvSpPr>
          <p:cNvPr id="14" name="level-role-1">
            <a:extLst xmlns:a="http://schemas.openxmlformats.org/drawingml/2006/main">
              <a:ext uri="{FF2B5EF4-FFF2-40B4-BE49-F238E27FC236}">
                <a16:creationId xmlns:a16="http://schemas.microsoft.com/office/drawing/2014/main" id="{2D6AC243-9E1F-4E2C-9281-EC59D4F2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95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主管</a:t>
            </a:r>
          </a:p>
        </p:txBody>
      </p:sp>
      <p:sp>
        <p:nvSpPr>
          <p:cNvPr id="15" name="level-scope-1">
            <a:extLst xmlns:a="http://schemas.openxmlformats.org/drawingml/2006/main">
              <a:ext uri="{FF2B5EF4-FFF2-40B4-BE49-F238E27FC236}">
                <a16:creationId xmlns:a16="http://schemas.microsoft.com/office/drawing/2014/main" id="{0552DFBE-69E6-4CDA-BFE1-56BDC3B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52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看团队数据</a:t>
            </a:r>
          </a:p>
        </p:txBody>
      </p:sp>
      <p:sp>
        <p:nvSpPr>
          <p:cNvPr id="16" name="level-desc-1">
            <a:extLst xmlns:a="http://schemas.openxmlformats.org/drawingml/2006/main">
              <a:ext uri="{FF2B5EF4-FFF2-40B4-BE49-F238E27FC236}">
                <a16:creationId xmlns:a16="http://schemas.microsoft.com/office/drawing/2014/main" id="{811D5556-CE3A-4147-8E47-1FF5D438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责任分配 · 进度追踪</a:t>
            </a:r>
          </a:p>
        </p:txBody>
      </p:sp>
      <p:sp>
        <p:nvSpPr>
          <p:cNvPr id="17" name="level-2">
            <a:extLst xmlns:a="http://schemas.openxmlformats.org/drawingml/2006/main">
              <a:ext uri="{FF2B5EF4-FFF2-40B4-BE49-F238E27FC236}">
                <a16:creationId xmlns:a16="http://schemas.microsoft.com/office/drawing/2014/main" id="{4EE1AC06-CFF6-46D4-AE2F-599F2CF7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81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evel-dot-2">
            <a:extLst xmlns:a="http://schemas.openxmlformats.org/drawingml/2006/main">
              <a:ext uri="{FF2B5EF4-FFF2-40B4-BE49-F238E27FC236}">
                <a16:creationId xmlns:a16="http://schemas.microsoft.com/office/drawing/2014/main" id="{061B8892-6791-43F6-9385-F0E1418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3</a:t>
            </a:r>
          </a:p>
        </p:txBody>
      </p:sp>
      <p:sp>
        <p:nvSpPr>
          <p:cNvPr id="19" name="level-role-2">
            <a:extLst xmlns:a="http://schemas.openxmlformats.org/drawingml/2006/main">
              <a:ext uri="{FF2B5EF4-FFF2-40B4-BE49-F238E27FC236}">
                <a16:creationId xmlns:a16="http://schemas.microsoft.com/office/drawing/2014/main" id="{8AA7525B-8CB1-48EF-B3BA-EC3CE3BF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市公司</a:t>
            </a:r>
          </a:p>
        </p:txBody>
      </p:sp>
      <p:sp>
        <p:nvSpPr>
          <p:cNvPr id="20" name="level-scope-2">
            <a:extLst xmlns:a="http://schemas.openxmlformats.org/drawingml/2006/main">
              <a:ext uri="{FF2B5EF4-FFF2-40B4-BE49-F238E27FC236}">
                <a16:creationId xmlns:a16="http://schemas.microsoft.com/office/drawing/2014/main" id="{958B749C-298D-4B1A-B80B-7334654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看区县数据</a:t>
            </a:r>
          </a:p>
        </p:txBody>
      </p:sp>
      <p:sp>
        <p:nvSpPr>
          <p:cNvPr id="21" name="level-desc-2">
            <a:extLst xmlns:a="http://schemas.openxmlformats.org/drawingml/2006/main">
              <a:ext uri="{FF2B5EF4-FFF2-40B4-BE49-F238E27FC236}">
                <a16:creationId xmlns:a16="http://schemas.microsoft.com/office/drawing/2014/main" id="{6B79B730-CE2F-4ACC-9A6A-7D2D419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经营对比 · 逐级下钻</a:t>
            </a:r>
          </a:p>
        </p:txBody>
      </p:sp>
      <p:sp>
        <p:nvSpPr>
          <p:cNvPr id="22" name="level-3">
            <a:extLst xmlns:a="http://schemas.openxmlformats.org/drawingml/2006/main">
              <a:ext uri="{FF2B5EF4-FFF2-40B4-BE49-F238E27FC236}">
                <a16:creationId xmlns:a16="http://schemas.microsoft.com/office/drawing/2014/main" id="{643F0547-753B-4570-BC16-97DE388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381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level-dot-3">
            <a:extLst xmlns:a="http://schemas.openxmlformats.org/drawingml/2006/main">
              <a:ext uri="{FF2B5EF4-FFF2-40B4-BE49-F238E27FC236}">
                <a16:creationId xmlns:a16="http://schemas.microsoft.com/office/drawing/2014/main" id="{713649C3-B583-44BC-AA40-F46E30C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4</a:t>
            </a:r>
          </a:p>
        </p:txBody>
      </p:sp>
      <p:sp>
        <p:nvSpPr>
          <p:cNvPr id="24" name="level-role-3">
            <a:extLst xmlns:a="http://schemas.openxmlformats.org/drawingml/2006/main">
              <a:ext uri="{FF2B5EF4-FFF2-40B4-BE49-F238E27FC236}">
                <a16:creationId xmlns:a16="http://schemas.microsoft.com/office/drawing/2014/main" id="{5A16C1D4-902C-4334-B4BA-5634176F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8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省公司</a:t>
            </a:r>
          </a:p>
        </p:txBody>
      </p:sp>
      <p:sp>
        <p:nvSpPr>
          <p:cNvPr id="25" name="level-scope-3">
            <a:extLst xmlns:a="http://schemas.openxmlformats.org/drawingml/2006/main">
              <a:ext uri="{FF2B5EF4-FFF2-40B4-BE49-F238E27FC236}">
                <a16:creationId xmlns:a16="http://schemas.microsoft.com/office/drawing/2014/main" id="{472D4B3F-EBC5-45C3-8627-ADBB38F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52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看市公司数据</a:t>
            </a:r>
          </a:p>
        </p:txBody>
      </p:sp>
      <p:sp>
        <p:nvSpPr>
          <p:cNvPr id="26" name="level-desc-3">
            <a:extLst xmlns:a="http://schemas.openxmlformats.org/drawingml/2006/main">
              <a:ext uri="{FF2B5EF4-FFF2-40B4-BE49-F238E27FC236}">
                <a16:creationId xmlns:a16="http://schemas.microsoft.com/office/drawing/2014/main" id="{B9FCE5A4-CF77-41BC-AEFA-9090539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组织监控 · 经营分析</a:t>
            </a:r>
          </a:p>
        </p:txBody>
      </p: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43250" y="3486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D6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0250" y="3486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D6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77250" y="34861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D6"/>
            </a:solidFill>
            <a:prstDash val="solid"/>
            <a:tailEnd type="arrow" w="sm" len="sm"/>
          </a:ln>
        </p:spPr>
      </p:cxnSp>
      <p:sp>
        <p:nvSpPr>
          <p:cNvPr id="30" name="control-0">
            <a:extLst xmlns:a="http://schemas.openxmlformats.org/drawingml/2006/main">
              <a:ext uri="{FF2B5EF4-FFF2-40B4-BE49-F238E27FC236}">
                <a16:creationId xmlns:a16="http://schemas.microsoft.com/office/drawing/2014/main" id="{72CCDECB-2642-4D66-84B7-EF506F65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逐级汇总</a:t>
            </a:r>
          </a:p>
        </p:txBody>
      </p:sp>
      <p:sp>
        <p:nvSpPr>
          <p:cNvPr id="31" name="control-d-0">
            <a:extLst xmlns:a="http://schemas.openxmlformats.org/drawingml/2006/main">
              <a:ext uri="{FF2B5EF4-FFF2-40B4-BE49-F238E27FC236}">
                <a16:creationId xmlns:a16="http://schemas.microsoft.com/office/drawing/2014/main" id="{68C5CD8A-3218-403B-85E5-318A4472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经营数据向上聚合</a:t>
            </a:r>
          </a:p>
        </p:txBody>
      </p:sp>
      <p:sp>
        <p:nvSpPr>
          <p:cNvPr id="32" name="control-1">
            <a:extLst xmlns:a="http://schemas.openxmlformats.org/drawingml/2006/main">
              <a:ext uri="{FF2B5EF4-FFF2-40B4-BE49-F238E27FC236}">
                <a16:creationId xmlns:a16="http://schemas.microsoft.com/office/drawing/2014/main" id="{5C8665A0-2654-49BD-B886-927DC2E0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62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逐级下钻</a:t>
            </a:r>
          </a:p>
        </p:txBody>
      </p:sp>
      <p:sp>
        <p:nvSpPr>
          <p:cNvPr id="33" name="control-d-1">
            <a:extLst xmlns:a="http://schemas.openxmlformats.org/drawingml/2006/main">
              <a:ext uri="{FF2B5EF4-FFF2-40B4-BE49-F238E27FC236}">
                <a16:creationId xmlns:a16="http://schemas.microsoft.com/office/drawing/2014/main" id="{A6F26CC2-1FEA-4455-9EFD-E957ED65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81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从全局进入组织明细</a:t>
            </a:r>
          </a:p>
        </p:txBody>
      </p:sp>
      <p:sp>
        <p:nvSpPr>
          <p:cNvPr id="34" name="control-2">
            <a:extLst xmlns:a="http://schemas.openxmlformats.org/drawingml/2006/main">
              <a:ext uri="{FF2B5EF4-FFF2-40B4-BE49-F238E27FC236}">
                <a16:creationId xmlns:a16="http://schemas.microsoft.com/office/drawing/2014/main" id="{A0D78EB5-3018-42C3-886C-0A254D6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62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权限控制</a:t>
            </a:r>
          </a:p>
        </p:txBody>
      </p:sp>
      <p:sp>
        <p:nvSpPr>
          <p:cNvPr id="35" name="control-d-2">
            <a:extLst xmlns:a="http://schemas.openxmlformats.org/drawingml/2006/main">
              <a:ext uri="{FF2B5EF4-FFF2-40B4-BE49-F238E27FC236}">
                <a16:creationId xmlns:a16="http://schemas.microsoft.com/office/drawing/2014/main" id="{E4A7956C-A098-42C2-988E-A2B22A4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81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同级隔离、按身份可见</a:t>
            </a:r>
          </a:p>
        </p:txBody>
      </p:sp>
    </p:spTree>
    <p:extLst>
      <p:ext uri="{BB962C8B-B14F-4D97-AF65-F5344CB8AC3E}">
        <p14:creationId xmlns:p14="http://schemas.microsoft.com/office/powerpoint/2010/main" val="2024675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12">
            <a:extLst xmlns:a="http://schemas.openxmlformats.org/drawingml/2006/main">
              <a:ext uri="{FF2B5EF4-FFF2-40B4-BE49-F238E27FC236}">
                <a16:creationId xmlns:a16="http://schemas.microsoft.com/office/drawing/2014/main" id="{3416E3BA-7E3C-4C08-97C8-1ABD896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 · 产品创新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5F58EB2-E15A-4030-9CF1-833E593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创新不在单点 AI，而在组织、流程与功能协同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4F81244A-F652-4F9A-9C75-A014575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b72380fc54bf5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53B1CAD1-3388-43FA-AE71-086D796E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12</a:t>
            </a:r>
          </a:p>
        </p:txBody>
      </p:sp>
      <p:sp>
        <p:nvSpPr>
          <p:cNvPr id="6" name="innovation-0">
            <a:extLst xmlns:a="http://schemas.openxmlformats.org/drawingml/2006/main">
              <a:ext uri="{FF2B5EF4-FFF2-40B4-BE49-F238E27FC236}">
                <a16:creationId xmlns:a16="http://schemas.microsoft.com/office/drawing/2014/main" id="{E24699B9-3F1D-49F1-8838-BA46E654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3333750" cy="361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innovation-dot-0">
            <a:extLst xmlns:a="http://schemas.openxmlformats.org/drawingml/2006/main">
              <a:ext uri="{FF2B5EF4-FFF2-40B4-BE49-F238E27FC236}">
                <a16:creationId xmlns:a16="http://schemas.microsoft.com/office/drawing/2014/main" id="{D7699040-4BB9-4EEA-A187-3DA930CF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8" name="innovation-title-0">
            <a:extLst xmlns:a="http://schemas.openxmlformats.org/drawingml/2006/main">
              <a:ext uri="{FF2B5EF4-FFF2-40B4-BE49-F238E27FC236}">
                <a16:creationId xmlns:a16="http://schemas.microsoft.com/office/drawing/2014/main" id="{C9858510-B831-45FE-B13D-EA08B139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组织创新</a:t>
            </a:r>
          </a:p>
        </p:txBody>
      </p:sp>
      <p:sp>
        <p:nvSpPr>
          <p:cNvPr id="9" name="innovation-claim-0">
            <a:extLst xmlns:a="http://schemas.openxmlformats.org/drawingml/2006/main">
              <a:ext uri="{FF2B5EF4-FFF2-40B4-BE49-F238E27FC236}">
                <a16:creationId xmlns:a16="http://schemas.microsoft.com/office/drawing/2014/main" id="{5CF108AE-8BFF-486C-9BBE-6D62122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五级权限穿透</a:t>
            </a:r>
          </a:p>
        </p:txBody>
      </p:sp>
      <p:sp>
        <p:nvSpPr>
          <p:cNvPr id="10" name="innovation-line-0">
            <a:extLst xmlns:a="http://schemas.openxmlformats.org/drawingml/2006/main">
              <a:ext uri="{FF2B5EF4-FFF2-40B4-BE49-F238E27FC236}">
                <a16:creationId xmlns:a16="http://schemas.microsoft.com/office/drawing/2014/main" id="{BE9B3113-0FE1-4AF5-A6CF-3E919595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11" name="innovation-diagram-0">
            <a:extLst xmlns:a="http://schemas.openxmlformats.org/drawingml/2006/main">
              <a:ext uri="{FF2B5EF4-FFF2-40B4-BE49-F238E27FC236}">
                <a16:creationId xmlns:a16="http://schemas.microsoft.com/office/drawing/2014/main" id="{893C12B1-F428-4710-82BC-AE713BE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集团 → 省 → 市 → 区县 → 部门</a:t>
            </a:r>
          </a:p>
        </p:txBody>
      </p:sp>
      <p:sp>
        <p:nvSpPr>
          <p:cNvPr id="12" name="innovation-1">
            <a:extLst xmlns:a="http://schemas.openxmlformats.org/drawingml/2006/main">
              <a:ext uri="{FF2B5EF4-FFF2-40B4-BE49-F238E27FC236}">
                <a16:creationId xmlns:a16="http://schemas.microsoft.com/office/drawing/2014/main" id="{F3F4B011-15EE-4148-8403-4D3BF44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333750" cy="361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innovation-dot-1">
            <a:extLst xmlns:a="http://schemas.openxmlformats.org/drawingml/2006/main">
              <a:ext uri="{FF2B5EF4-FFF2-40B4-BE49-F238E27FC236}">
                <a16:creationId xmlns:a16="http://schemas.microsoft.com/office/drawing/2014/main" id="{31AD0FC2-9A40-49A8-8DA0-7AA023D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14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C043BFD1-7AA6-4FA5-AE98-F36A1CB4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流程创新</a:t>
            </a:r>
          </a:p>
        </p:txBody>
      </p:sp>
      <p:sp>
        <p:nvSpPr>
          <p:cNvPr id="15" name="innovation-claim-1">
            <a:extLst xmlns:a="http://schemas.openxmlformats.org/drawingml/2006/main">
              <a:ext uri="{FF2B5EF4-FFF2-40B4-BE49-F238E27FC236}">
                <a16:creationId xmlns:a16="http://schemas.microsoft.com/office/drawing/2014/main" id="{D7B10E91-4FEC-4666-BBEE-0F27C15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商机找人</a:t>
            </a:r>
          </a:p>
        </p:txBody>
      </p:sp>
      <p:sp>
        <p:nvSpPr>
          <p:cNvPr id="16" name="innovation-line-1">
            <a:extLst xmlns:a="http://schemas.openxmlformats.org/drawingml/2006/main">
              <a:ext uri="{FF2B5EF4-FFF2-40B4-BE49-F238E27FC236}">
                <a16:creationId xmlns:a16="http://schemas.microsoft.com/office/drawing/2014/main" id="{67643CF9-B0A4-406D-9EC1-A18CAC93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8F"/>
            </a:solidFill>
            <a:prstDash val="solid"/>
          </a:ln>
        </p:spPr>
      </p:sp>
      <p:sp>
        <p:nvSpPr>
          <p:cNvPr id="17" name="innovation-diagram-1">
            <a:extLst xmlns:a="http://schemas.openxmlformats.org/drawingml/2006/main">
              <a:ext uri="{FF2B5EF4-FFF2-40B4-BE49-F238E27FC236}">
                <a16:creationId xmlns:a16="http://schemas.microsoft.com/office/drawing/2014/main" id="{74C2D5A2-F08B-4488-AAFA-C0813AD8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人找商机 → AI 推荐到人</a:t>
            </a:r>
          </a:p>
        </p:txBody>
      </p:sp>
      <p:sp>
        <p:nvSpPr>
          <p:cNvPr id="18" name="innovation-2">
            <a:extLst xmlns:a="http://schemas.openxmlformats.org/drawingml/2006/main">
              <a:ext uri="{FF2B5EF4-FFF2-40B4-BE49-F238E27FC236}">
                <a16:creationId xmlns:a16="http://schemas.microsoft.com/office/drawing/2014/main" id="{9FC76FCC-8AD8-422B-8271-889BCF96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33750" cy="361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innovation-dot-2">
            <a:extLst xmlns:a="http://schemas.openxmlformats.org/drawingml/2006/main">
              <a:ext uri="{FF2B5EF4-FFF2-40B4-BE49-F238E27FC236}">
                <a16:creationId xmlns:a16="http://schemas.microsoft.com/office/drawing/2014/main" id="{EEFA5F4F-F3C2-49D5-BF0C-2FF8506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20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8E0137B6-E9AD-4A74-8F63-77AE8334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33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9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功能创新</a:t>
            </a:r>
          </a:p>
        </p:txBody>
      </p:sp>
      <p:sp>
        <p:nvSpPr>
          <p:cNvPr id="21" name="innovation-claim-2">
            <a:extLst xmlns:a="http://schemas.openxmlformats.org/drawingml/2006/main">
              <a:ext uri="{FF2B5EF4-FFF2-40B4-BE49-F238E27FC236}">
                <a16:creationId xmlns:a16="http://schemas.microsoft.com/office/drawing/2014/main" id="{7C16740F-F68C-45E2-AC3A-EEE818A3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一体化作战</a:t>
            </a:r>
          </a:p>
        </p:txBody>
      </p:sp>
      <p:sp>
        <p:nvSpPr>
          <p:cNvPr id="22" name="innovation-line-2">
            <a:extLst xmlns:a="http://schemas.openxmlformats.org/drawingml/2006/main">
              <a:ext uri="{FF2B5EF4-FFF2-40B4-BE49-F238E27FC236}">
                <a16:creationId xmlns:a16="http://schemas.microsoft.com/office/drawing/2014/main" id="{27123D8A-6522-4ACC-9C86-DDC988A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EA"/>
            </a:solidFill>
            <a:prstDash val="solid"/>
          </a:ln>
        </p:spPr>
      </p:sp>
      <p:sp>
        <p:nvSpPr>
          <p:cNvPr id="23" name="innovation-diagram-2">
            <a:extLst xmlns:a="http://schemas.openxmlformats.org/drawingml/2006/main">
              <a:ext uri="{FF2B5EF4-FFF2-40B4-BE49-F238E27FC236}">
                <a16:creationId xmlns:a16="http://schemas.microsoft.com/office/drawing/2014/main" id="{45C6AE69-145A-4499-91B4-27926D8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43B5A"/>
                </a:solidFill>
                <a:latin typeface="MiSans"/>
                <a:ea typeface="MiSans"/>
                <a:cs typeface="MiSans"/>
              </a:rPr>
              <a:t>AI 推荐 + CRM + 拜访 + 看板</a:t>
            </a:r>
          </a:p>
        </p:txBody>
      </p:sp>
      <p:sp>
        <p:nvSpPr>
          <p:cNvPr id="24" name="innovation-note">
            <a:extLst xmlns:a="http://schemas.openxmlformats.org/drawingml/2006/main">
              <a:ext uri="{FF2B5EF4-FFF2-40B4-BE49-F238E27FC236}">
                <a16:creationId xmlns:a16="http://schemas.microsoft.com/office/drawing/2014/main" id="{ED583761-FF91-4EBE-AE7A-0C6653F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AI 推荐与防重拦截机制并行，确保创新真正落到经营动作。</a:t>
            </a:r>
          </a:p>
        </p:txBody>
      </p:sp>
    </p:spTree>
    <p:extLst>
      <p:ext uri="{BB962C8B-B14F-4D97-AF65-F5344CB8AC3E}">
        <p14:creationId xmlns:p14="http://schemas.microsoft.com/office/powerpoint/2010/main" val="20246751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3">
            <a:extLst xmlns:a="http://schemas.openxmlformats.org/drawingml/2006/main">
              <a:ext uri="{FF2B5EF4-FFF2-40B4-BE49-F238E27FC236}">
                <a16:creationId xmlns:a16="http://schemas.microsoft.com/office/drawing/2014/main" id="{175101D3-ED6E-414E-B617-5B0CEDB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 · 商机闭环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A2E5A17-A90B-412C-A85A-9D64B18B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拜访结果不是终点，而是下一轮 AI 推荐的数据来源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4743BED1-7943-4117-984E-506FA321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a30ced5894d15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AAB7389C-5062-46DA-B219-3865AE55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13</a:t>
            </a:r>
          </a:p>
        </p:txBody>
      </p:sp>
      <p:sp>
        <p:nvSpPr>
          <p:cNvPr id="6" name="loop-intro">
            <a:extLst xmlns:a="http://schemas.openxmlformats.org/drawingml/2006/main">
              <a:ext uri="{FF2B5EF4-FFF2-40B4-BE49-F238E27FC236}">
                <a16:creationId xmlns:a16="http://schemas.microsoft.com/office/drawing/2014/main" id="{F9F32200-09B1-431F-997E-EBC5A280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身份与权限决定商机如何到人；拜访沉淀的数据，再反哺下一轮推荐。</a:t>
            </a:r>
          </a:p>
        </p:txBody>
      </p:sp>
      <p:sp>
        <p:nvSpPr>
          <p:cNvPr id="7" name="loop-node-0">
            <a:extLst xmlns:a="http://schemas.openxmlformats.org/drawingml/2006/main">
              <a:ext uri="{FF2B5EF4-FFF2-40B4-BE49-F238E27FC236}">
                <a16:creationId xmlns:a16="http://schemas.microsoft.com/office/drawing/2014/main" id="{9AE08319-9895-4D9B-B485-61A541A3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loop-num-0">
            <a:extLst xmlns:a="http://schemas.openxmlformats.org/drawingml/2006/main">
              <a:ext uri="{FF2B5EF4-FFF2-40B4-BE49-F238E27FC236}">
                <a16:creationId xmlns:a16="http://schemas.microsoft.com/office/drawing/2014/main" id="{093291EA-AF26-492D-AA48-58C6464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01</a:t>
            </a:r>
          </a:p>
        </p:txBody>
      </p:sp>
      <p:sp>
        <p:nvSpPr>
          <p:cNvPr id="9" name="loop-label-0">
            <a:extLst xmlns:a="http://schemas.openxmlformats.org/drawingml/2006/main">
              <a:ext uri="{FF2B5EF4-FFF2-40B4-BE49-F238E27FC236}">
                <a16:creationId xmlns:a16="http://schemas.microsoft.com/office/drawing/2014/main" id="{0DD7A0C7-FBFF-4617-9259-F5503B1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身份</a:t>
            </a:r>
          </a:p>
        </p:txBody>
      </p:sp>
      <p:sp>
        <p:nvSpPr>
          <p:cNvPr id="10" name="loop-node-1">
            <a:extLst xmlns:a="http://schemas.openxmlformats.org/drawingml/2006/main">
              <a:ext uri="{FF2B5EF4-FFF2-40B4-BE49-F238E27FC236}">
                <a16:creationId xmlns:a16="http://schemas.microsoft.com/office/drawing/2014/main" id="{AF691082-13CF-42A8-9DAC-5712E94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loop-num-1">
            <a:extLst xmlns:a="http://schemas.openxmlformats.org/drawingml/2006/main">
              <a:ext uri="{FF2B5EF4-FFF2-40B4-BE49-F238E27FC236}">
                <a16:creationId xmlns:a16="http://schemas.microsoft.com/office/drawing/2014/main" id="{414D59D6-CD4E-4720-803C-509DC0E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02</a:t>
            </a:r>
          </a:p>
        </p:txBody>
      </p:sp>
      <p:sp>
        <p:nvSpPr>
          <p:cNvPr id="12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8F62B192-335D-4BC7-A574-95719BB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权限</a:t>
            </a:r>
          </a:p>
        </p:txBody>
      </p:sp>
      <p:sp>
        <p:nvSpPr>
          <p:cNvPr id="13" name="loop-node-2">
            <a:extLst xmlns:a="http://schemas.openxmlformats.org/drawingml/2006/main">
              <a:ext uri="{FF2B5EF4-FFF2-40B4-BE49-F238E27FC236}">
                <a16:creationId xmlns:a16="http://schemas.microsoft.com/office/drawing/2014/main" id="{9E5EB776-B691-401F-9309-CDF52F6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loop-num-2">
            <a:extLst xmlns:a="http://schemas.openxmlformats.org/drawingml/2006/main">
              <a:ext uri="{FF2B5EF4-FFF2-40B4-BE49-F238E27FC236}">
                <a16:creationId xmlns:a16="http://schemas.microsoft.com/office/drawing/2014/main" id="{4C517C7C-BF40-4C89-A3BC-3824B98D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03</a:t>
            </a:r>
          </a:p>
        </p:txBody>
      </p:sp>
      <p:sp>
        <p:nvSpPr>
          <p:cNvPr id="15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9800E04F-35D2-49C3-BB27-9DEF3CA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商机</a:t>
            </a:r>
          </a:p>
        </p:txBody>
      </p:sp>
      <p:sp>
        <p:nvSpPr>
          <p:cNvPr id="16" name="loop-node-3">
            <a:extLst xmlns:a="http://schemas.openxmlformats.org/drawingml/2006/main">
              <a:ext uri="{FF2B5EF4-FFF2-40B4-BE49-F238E27FC236}">
                <a16:creationId xmlns:a16="http://schemas.microsoft.com/office/drawing/2014/main" id="{79795FE9-3ABF-4CB9-89B6-D6B2862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loop-num-3">
            <a:extLst xmlns:a="http://schemas.openxmlformats.org/drawingml/2006/main">
              <a:ext uri="{FF2B5EF4-FFF2-40B4-BE49-F238E27FC236}">
                <a16:creationId xmlns:a16="http://schemas.microsoft.com/office/drawing/2014/main" id="{58A180A5-13D6-4BFC-AD34-3F87CF0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04</a:t>
            </a:r>
          </a:p>
        </p:txBody>
      </p:sp>
      <p:sp>
        <p:nvSpPr>
          <p:cNvPr id="18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BABF35FA-2DBD-4C57-9ECE-FE25EA9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拜访</a:t>
            </a:r>
          </a:p>
        </p:txBody>
      </p:sp>
      <p:sp>
        <p:nvSpPr>
          <p:cNvPr id="19" name="loop-node-4">
            <a:extLst xmlns:a="http://schemas.openxmlformats.org/drawingml/2006/main">
              <a:ext uri="{FF2B5EF4-FFF2-40B4-BE49-F238E27FC236}">
                <a16:creationId xmlns:a16="http://schemas.microsoft.com/office/drawing/2014/main" id="{88377842-882A-467F-AFE0-DC748F6A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loop-num-4">
            <a:extLst xmlns:a="http://schemas.openxmlformats.org/drawingml/2006/main">
              <a:ext uri="{FF2B5EF4-FFF2-40B4-BE49-F238E27FC236}">
                <a16:creationId xmlns:a16="http://schemas.microsoft.com/office/drawing/2014/main" id="{1E1AC20D-DE41-46C8-81FE-1877382D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05</a:t>
            </a:r>
          </a:p>
        </p:txBody>
      </p:sp>
      <p:sp>
        <p:nvSpPr>
          <p:cNvPr id="21" name="loop-label-4">
            <a:extLst xmlns:a="http://schemas.openxmlformats.org/drawingml/2006/main">
              <a:ext uri="{FF2B5EF4-FFF2-40B4-BE49-F238E27FC236}">
                <a16:creationId xmlns:a16="http://schemas.microsoft.com/office/drawing/2014/main" id="{6CCC3609-A1E5-4D7D-9FC2-5BE5C87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数据沉淀</a:t>
            </a:r>
          </a:p>
        </p:txBody>
      </p:sp>
      <p:sp>
        <p:nvSpPr>
          <p:cNvPr id="22" name="loop-node-5">
            <a:extLst xmlns:a="http://schemas.openxmlformats.org/drawingml/2006/main">
              <a:ext uri="{FF2B5EF4-FFF2-40B4-BE49-F238E27FC236}">
                <a16:creationId xmlns:a16="http://schemas.microsoft.com/office/drawing/2014/main" id="{AD134D87-63A5-4E53-8B0B-7F80E3B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428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263E6"/>
          </a:solidFill>
          <a:ln xmlns:a="http://schemas.openxmlformats.org/drawingml/2006/main" w="9525">
            <a:solidFill>
              <a:srgbClr val="2263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loop-num-5">
            <a:extLst xmlns:a="http://schemas.openxmlformats.org/drawingml/2006/main">
              <a:ext uri="{FF2B5EF4-FFF2-40B4-BE49-F238E27FC236}">
                <a16:creationId xmlns:a16="http://schemas.microsoft.com/office/drawing/2014/main" id="{B659245E-9DE4-450A-B225-961B56B9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06</a:t>
            </a:r>
          </a:p>
        </p:txBody>
      </p:sp>
      <p:sp>
        <p:nvSpPr>
          <p:cNvPr id="24" name="loop-label-5">
            <a:extLst xmlns:a="http://schemas.openxmlformats.org/drawingml/2006/main">
              <a:ext uri="{FF2B5EF4-FFF2-40B4-BE49-F238E27FC236}">
                <a16:creationId xmlns:a16="http://schemas.microsoft.com/office/drawing/2014/main" id="{DDA5ACC3-67A5-4F9C-AA42-B426701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AI 推荐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90750" y="3333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62400" y="3333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734050" y="3333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05700" y="3333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77350" y="3333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B8D6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22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>
            <a:off x="5019675" y="3943350"/>
            <a:ext cx="5314950" cy="228600"/>
          </a:xfrm>
          <a:prstGeom xmlns:a="http://schemas.openxmlformats.org/drawingml/2006/main" prst="bentConnector5">
            <a:avLst/>
          </a:prstGeom>
          <a:ln xmlns:a="http://schemas.openxmlformats.org/drawingml/2006/main" w="28575">
            <a:solidFill>
              <a:srgbClr val="2263E6"/>
            </a:solidFill>
            <a:prstDash val="dash"/>
            <a:tailEnd type="arrow" w="med" len="med"/>
          </a:ln>
        </p:spPr>
      </p:cxnSp>
      <p:sp>
        <p:nvSpPr>
          <p:cNvPr id="31" name="loop-feedback">
            <a:extLst xmlns:a="http://schemas.openxmlformats.org/drawingml/2006/main">
              <a:ext uri="{FF2B5EF4-FFF2-40B4-BE49-F238E27FC236}">
                <a16:creationId xmlns:a16="http://schemas.microsoft.com/office/drawing/2014/main" id="{DBB550F9-DFBC-4631-81FB-17AA3B3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86300"/>
            <a:ext cx="6191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oop-feedback-t">
            <a:extLst xmlns:a="http://schemas.openxmlformats.org/drawingml/2006/main">
              <a:ext uri="{FF2B5EF4-FFF2-40B4-BE49-F238E27FC236}">
                <a16:creationId xmlns:a16="http://schemas.microsoft.com/office/drawing/2014/main" id="{F56E3FFD-56E4-46B0-B92E-419F1E3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565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拜访数据 → AI 沉淀 → 下一轮商机推荐</a:t>
            </a:r>
          </a:p>
        </p:txBody>
      </p:sp>
      <p:sp>
        <p:nvSpPr>
          <p:cNvPr id="33" name="loop-bottom">
            <a:extLst xmlns:a="http://schemas.openxmlformats.org/drawingml/2006/main">
              <a:ext uri="{FF2B5EF4-FFF2-40B4-BE49-F238E27FC236}">
                <a16:creationId xmlns:a16="http://schemas.microsoft.com/office/drawing/2014/main" id="{04CCC003-25FE-4CA1-866B-3C354F7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4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商机发现 → 评分 → 派发 → 拜访 → 转化 → 再推荐</a:t>
            </a:r>
          </a:p>
        </p:txBody>
      </p:sp>
    </p:spTree>
    <p:extLst>
      <p:ext uri="{BB962C8B-B14F-4D97-AF65-F5344CB8AC3E}">
        <p14:creationId xmlns:p14="http://schemas.microsoft.com/office/powerpoint/2010/main" val="20246751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4">
            <a:extLst xmlns:a="http://schemas.openxmlformats.org/drawingml/2006/main">
              <a:ext uri="{FF2B5EF4-FFF2-40B4-BE49-F238E27FC236}">
                <a16:creationId xmlns:a16="http://schemas.microsoft.com/office/drawing/2014/main" id="{4129C348-E3F2-4CB5-AFC0-9B4465B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05 · LIVE DEMO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EBE5922-AD15-452D-AF2F-3BE5450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300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接下来进入真实系统，全流程现场演示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515FC8C-7E48-44B5-9ED1-4D829F5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1a68bd10467f"/>
          <a:stretch xmlns:a="http://schemas.openxmlformats.org/drawingml/2006/main"/>
        </p:blipFill>
        <p:spPr>
          <a:xfrm xmlns:a="http://schemas.openxmlformats.org/drawingml/2006/main">
            <a:off x="10515600" y="228704"/>
            <a:ext cx="1200150" cy="371268"/>
          </a:xfrm>
          <a:prstGeom xmlns:a="http://schemas.openxmlformats.org/drawingml/2006/main" prst="rect">
            <a:avLst/>
          </a:prstGeom>
        </p:spPr>
      </p:pic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BBD68D88-1BF7-4953-8633-FC5A4DE8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62758E"/>
                </a:solidFill>
                <a:latin typeface="MiSans"/>
                <a:ea typeface="MiSans"/>
                <a:cs typeface="MiSans"/>
              </a:rPr>
              <a:t>14</a:t>
            </a:r>
          </a:p>
        </p:txBody>
      </p:sp>
      <p:sp>
        <p:nvSpPr>
          <p:cNvPr id="6" name="demo-intro">
            <a:extLst xmlns:a="http://schemas.openxmlformats.org/drawingml/2006/main">
              <a:ext uri="{FF2B5EF4-FFF2-40B4-BE49-F238E27FC236}">
                <a16:creationId xmlns:a16="http://schemas.microsoft.com/office/drawing/2014/main" id="{B267D1A9-13A9-4EA5-A82C-CA931269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观众将按同一条商机作战路径，看到四个关键动作。</a:t>
            </a:r>
          </a:p>
        </p:txBody>
      </p:sp>
      <p:sp>
        <p:nvSpPr>
          <p:cNvPr id="7" name="demo-arrow-0">
            <a:extLst xmlns:a="http://schemas.openxmlformats.org/drawingml/2006/main">
              <a:ext uri="{FF2B5EF4-FFF2-40B4-BE49-F238E27FC236}">
                <a16:creationId xmlns:a16="http://schemas.microsoft.com/office/drawing/2014/main" id="{5716863C-9913-469E-9EEF-AA6701A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B8D6"/>
          </a:solidFill>
          <a:ln xmlns:a="http://schemas.openxmlformats.org/drawingml/2006/main" w="0">
            <a:solidFill>
              <a:srgbClr val="29B8D6"/>
            </a:solidFill>
            <a:prstDash val="solid"/>
          </a:ln>
        </p:spPr>
      </p:sp>
      <p:sp>
        <p:nvSpPr>
          <p:cNvPr id="8" name="demo-step-0">
            <a:extLst xmlns:a="http://schemas.openxmlformats.org/drawingml/2006/main">
              <a:ext uri="{FF2B5EF4-FFF2-40B4-BE49-F238E27FC236}">
                <a16:creationId xmlns:a16="http://schemas.microsoft.com/office/drawing/2014/main" id="{0FFF646E-1019-4349-A941-E2B2F61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demo-step-n-0">
            <a:extLst xmlns:a="http://schemas.openxmlformats.org/drawingml/2006/main">
              <a:ext uri="{FF2B5EF4-FFF2-40B4-BE49-F238E27FC236}">
                <a16:creationId xmlns:a16="http://schemas.microsoft.com/office/drawing/2014/main" id="{19F8C755-CDBE-4B35-B834-02E794C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9B8D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9B8D6"/>
                </a:solidFill>
                <a:latin typeface="MiSans"/>
                <a:ea typeface="MiSans"/>
                <a:cs typeface="MiSans"/>
              </a:rPr>
              <a:t>STEP 01</a:t>
            </a:r>
          </a:p>
        </p:txBody>
      </p:sp>
      <p:sp>
        <p:nvSpPr>
          <p:cNvPr id="10" name="demo-step-dot-0">
            <a:extLst xmlns:a="http://schemas.openxmlformats.org/drawingml/2006/main">
              <a:ext uri="{FF2B5EF4-FFF2-40B4-BE49-F238E27FC236}">
                <a16:creationId xmlns:a16="http://schemas.microsoft.com/office/drawing/2014/main" id="{D86EF29A-37BB-4B56-8F9D-5606525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solidFill>
              <a:srgbClr val="2263E6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11" name="demo-step-t-0">
            <a:extLst xmlns:a="http://schemas.openxmlformats.org/drawingml/2006/main">
              <a:ext uri="{FF2B5EF4-FFF2-40B4-BE49-F238E27FC236}">
                <a16:creationId xmlns:a16="http://schemas.microsoft.com/office/drawing/2014/main" id="{2A1C875F-0527-4A13-87CD-C07A251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每日商机推荐</a:t>
            </a:r>
          </a:p>
        </p:txBody>
      </p:sp>
      <p:sp>
        <p:nvSpPr>
          <p:cNvPr id="12" name="demo-step-d-0">
            <a:extLst xmlns:a="http://schemas.openxmlformats.org/drawingml/2006/main">
              <a:ext uri="{FF2B5EF4-FFF2-40B4-BE49-F238E27FC236}">
                <a16:creationId xmlns:a16="http://schemas.microsoft.com/office/drawing/2014/main" id="{259ED281-BE64-45F9-BBA6-862045E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看见今天最该跟进的商机</a:t>
            </a:r>
          </a:p>
        </p:txBody>
      </p:sp>
      <p:sp>
        <p:nvSpPr>
          <p:cNvPr id="13" name="demo-arrow-1">
            <a:extLst xmlns:a="http://schemas.openxmlformats.org/drawingml/2006/main">
              <a:ext uri="{FF2B5EF4-FFF2-40B4-BE49-F238E27FC236}">
                <a16:creationId xmlns:a16="http://schemas.microsoft.com/office/drawing/2014/main" id="{1E2D92A0-D804-465E-B267-38DCF50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B8D6"/>
          </a:solidFill>
          <a:ln xmlns:a="http://schemas.openxmlformats.org/drawingml/2006/main" w="0">
            <a:solidFill>
              <a:srgbClr val="29B8D6"/>
            </a:solidFill>
            <a:prstDash val="solid"/>
          </a:ln>
        </p:spPr>
      </p:sp>
      <p:sp>
        <p:nvSpPr>
          <p:cNvPr id="14" name="demo-step-1">
            <a:extLst xmlns:a="http://schemas.openxmlformats.org/drawingml/2006/main">
              <a:ext uri="{FF2B5EF4-FFF2-40B4-BE49-F238E27FC236}">
                <a16:creationId xmlns:a16="http://schemas.microsoft.com/office/drawing/2014/main" id="{471323E1-7178-4198-A2D9-6715043D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demo-step-n-1">
            <a:extLst xmlns:a="http://schemas.openxmlformats.org/drawingml/2006/main">
              <a:ext uri="{FF2B5EF4-FFF2-40B4-BE49-F238E27FC236}">
                <a16:creationId xmlns:a16="http://schemas.microsoft.com/office/drawing/2014/main" id="{004A9F21-849C-46C6-A01D-F3D1402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STEP 02</a:t>
            </a:r>
          </a:p>
        </p:txBody>
      </p:sp>
      <p:sp>
        <p:nvSpPr>
          <p:cNvPr id="16" name="demo-step-dot-1">
            <a:extLst xmlns:a="http://schemas.openxmlformats.org/drawingml/2006/main">
              <a:ext uri="{FF2B5EF4-FFF2-40B4-BE49-F238E27FC236}">
                <a16:creationId xmlns:a16="http://schemas.microsoft.com/office/drawing/2014/main" id="{AF417342-C183-42FF-9FC5-46C5205C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2</a:t>
            </a:r>
          </a:p>
        </p:txBody>
      </p:sp>
      <p:sp>
        <p:nvSpPr>
          <p:cNvPr id="17" name="demo-step-t-1">
            <a:extLst xmlns:a="http://schemas.openxmlformats.org/drawingml/2006/main">
              <a:ext uri="{FF2B5EF4-FFF2-40B4-BE49-F238E27FC236}">
                <a16:creationId xmlns:a16="http://schemas.microsoft.com/office/drawing/2014/main" id="{C9A1781C-57B1-43A9-818F-529C9A0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客户档案</a:t>
            </a:r>
          </a:p>
        </p:txBody>
      </p:sp>
      <p:sp>
        <p:nvSpPr>
          <p:cNvPr id="18" name="demo-step-d-1">
            <a:extLst xmlns:a="http://schemas.openxmlformats.org/drawingml/2006/main">
              <a:ext uri="{FF2B5EF4-FFF2-40B4-BE49-F238E27FC236}">
                <a16:creationId xmlns:a16="http://schemas.microsoft.com/office/drawing/2014/main" id="{9061C3AE-4C59-412C-AC0D-9099C2B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快速形成一页客户判断</a:t>
            </a:r>
          </a:p>
        </p:txBody>
      </p:sp>
      <p:sp>
        <p:nvSpPr>
          <p:cNvPr id="19" name="demo-arrow-2">
            <a:extLst xmlns:a="http://schemas.openxmlformats.org/drawingml/2006/main">
              <a:ext uri="{FF2B5EF4-FFF2-40B4-BE49-F238E27FC236}">
                <a16:creationId xmlns:a16="http://schemas.microsoft.com/office/drawing/2014/main" id="{A4113058-51F9-4641-9D15-5E1564F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B8D6"/>
          </a:solidFill>
          <a:ln xmlns:a="http://schemas.openxmlformats.org/drawingml/2006/main" w="0">
            <a:solidFill>
              <a:srgbClr val="29B8D6"/>
            </a:solidFill>
            <a:prstDash val="solid"/>
          </a:ln>
        </p:spPr>
      </p:sp>
      <p:sp>
        <p:nvSpPr>
          <p:cNvPr id="20" name="demo-step-2">
            <a:extLst xmlns:a="http://schemas.openxmlformats.org/drawingml/2006/main">
              <a:ext uri="{FF2B5EF4-FFF2-40B4-BE49-F238E27FC236}">
                <a16:creationId xmlns:a16="http://schemas.microsoft.com/office/drawing/2014/main" id="{D130910E-1F6D-4515-9FC1-4BC4B3B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demo-step-n-2">
            <a:extLst xmlns:a="http://schemas.openxmlformats.org/drawingml/2006/main">
              <a:ext uri="{FF2B5EF4-FFF2-40B4-BE49-F238E27FC236}">
                <a16:creationId xmlns:a16="http://schemas.microsoft.com/office/drawing/2014/main" id="{52BEBD48-933E-45A4-9962-93692DDF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STEP 03</a:t>
            </a:r>
          </a:p>
        </p:txBody>
      </p:sp>
      <p:sp>
        <p:nvSpPr>
          <p:cNvPr id="22" name="demo-step-dot-2">
            <a:extLst xmlns:a="http://schemas.openxmlformats.org/drawingml/2006/main">
              <a:ext uri="{FF2B5EF4-FFF2-40B4-BE49-F238E27FC236}">
                <a16:creationId xmlns:a16="http://schemas.microsoft.com/office/drawing/2014/main" id="{67BE8D71-064C-4638-8B99-6B27303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3</a:t>
            </a:r>
          </a:p>
        </p:txBody>
      </p:sp>
      <p:sp>
        <p:nvSpPr>
          <p:cNvPr id="23" name="demo-step-t-2">
            <a:extLst xmlns:a="http://schemas.openxmlformats.org/drawingml/2006/main">
              <a:ext uri="{FF2B5EF4-FFF2-40B4-BE49-F238E27FC236}">
                <a16:creationId xmlns:a16="http://schemas.microsoft.com/office/drawing/2014/main" id="{35D5D652-43E6-4932-A6C1-A27F0F3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AI 拜访作战卡</a:t>
            </a:r>
          </a:p>
        </p:txBody>
      </p:sp>
      <p:sp>
        <p:nvSpPr>
          <p:cNvPr id="24" name="demo-step-d-2">
            <a:extLst xmlns:a="http://schemas.openxmlformats.org/drawingml/2006/main">
              <a:ext uri="{FF2B5EF4-FFF2-40B4-BE49-F238E27FC236}">
                <a16:creationId xmlns:a16="http://schemas.microsoft.com/office/drawing/2014/main" id="{9F4CC5EB-C163-4029-84D5-D9931C87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拜访前明确目标与重点</a:t>
            </a:r>
          </a:p>
        </p:txBody>
      </p:sp>
      <p:sp>
        <p:nvSpPr>
          <p:cNvPr id="25" name="demo-step-3">
            <a:extLst xmlns:a="http://schemas.openxmlformats.org/drawingml/2006/main">
              <a:ext uri="{FF2B5EF4-FFF2-40B4-BE49-F238E27FC236}">
                <a16:creationId xmlns:a16="http://schemas.microsoft.com/office/drawing/2014/main" id="{38146170-2D33-4F96-9AFB-6819DBCB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381250" cy="2781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demo-step-n-3">
            <a:extLst xmlns:a="http://schemas.openxmlformats.org/drawingml/2006/main">
              <a:ext uri="{FF2B5EF4-FFF2-40B4-BE49-F238E27FC236}">
                <a16:creationId xmlns:a16="http://schemas.microsoft.com/office/drawing/2014/main" id="{08E3795D-F267-48E8-A58C-7BF5331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STEP 04</a:t>
            </a:r>
          </a:p>
        </p:txBody>
      </p:sp>
      <p:sp>
        <p:nvSpPr>
          <p:cNvPr id="27" name="demo-step-dot-3">
            <a:extLst xmlns:a="http://schemas.openxmlformats.org/drawingml/2006/main">
              <a:ext uri="{FF2B5EF4-FFF2-40B4-BE49-F238E27FC236}">
                <a16:creationId xmlns:a16="http://schemas.microsoft.com/office/drawing/2014/main" id="{7ED6344C-DFE7-4155-9DB6-293230AA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65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4</a:t>
            </a:r>
          </a:p>
        </p:txBody>
      </p:sp>
      <p:sp>
        <p:nvSpPr>
          <p:cNvPr id="28" name="demo-step-t-3">
            <a:extLst xmlns:a="http://schemas.openxmlformats.org/drawingml/2006/main">
              <a:ext uri="{FF2B5EF4-FFF2-40B4-BE49-F238E27FC236}">
                <a16:creationId xmlns:a16="http://schemas.microsoft.com/office/drawing/2014/main" id="{07E4F0DB-02E8-4736-AC7D-9DA76F7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052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例会派单看板</a:t>
            </a:r>
          </a:p>
        </p:txBody>
      </p:sp>
      <p:sp>
        <p:nvSpPr>
          <p:cNvPr id="29" name="demo-step-d-3">
            <a:extLst xmlns:a="http://schemas.openxmlformats.org/drawingml/2006/main">
              <a:ext uri="{FF2B5EF4-FFF2-40B4-BE49-F238E27FC236}">
                <a16:creationId xmlns:a16="http://schemas.microsoft.com/office/drawing/2014/main" id="{5FBD6061-FAA8-4AD6-A4D0-FF309AF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29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当场派单、责任到人</a:t>
            </a:r>
          </a:p>
        </p:txBody>
      </p:sp>
      <p:sp>
        <p:nvSpPr>
          <p:cNvPr id="30" name="demo-bottom">
            <a:extLst xmlns:a="http://schemas.openxmlformats.org/drawingml/2006/main">
              <a:ext uri="{FF2B5EF4-FFF2-40B4-BE49-F238E27FC236}">
                <a16:creationId xmlns:a16="http://schemas.microsoft.com/office/drawing/2014/main" id="{949DEFFA-B1F9-4304-9CFB-8179A0E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500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请切换至真实系统环境</a:t>
            </a:r>
          </a:p>
        </p:txBody>
      </p:sp>
    </p:spTree>
    <p:extLst>
      <p:ext uri="{BB962C8B-B14F-4D97-AF65-F5344CB8AC3E}">
        <p14:creationId xmlns:p14="http://schemas.microsoft.com/office/powerpoint/2010/main" val="13369880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175cd58d544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wash">
            <a:extLst xmlns:a="http://schemas.openxmlformats.org/drawingml/2006/main">
              <a:ext uri="{FF2B5EF4-FFF2-40B4-BE49-F238E27FC236}">
                <a16:creationId xmlns:a16="http://schemas.microsoft.com/office/drawing/2014/main" id="{15349EC7-656A-4242-9660-3FC7B942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ing-bottom-wash">
            <a:extLst xmlns:a="http://schemas.openxmlformats.org/drawingml/2006/main">
              <a:ext uri="{FF2B5EF4-FFF2-40B4-BE49-F238E27FC236}">
                <a16:creationId xmlns:a16="http://schemas.microsoft.com/office/drawing/2014/main" id="{C500F970-A966-4479-8D07-72337F9E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F"/>
              </a:gs>
              <a:gs pos="100000">
                <a:srgbClr val="F8FBF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5cea2b0064ea8"/>
          <a:stretch xmlns:a="http://schemas.openxmlformats.org/drawingml/2006/main"/>
        </p:blipFill>
        <p:spPr>
          <a:xfrm xmlns:a="http://schemas.openxmlformats.org/drawingml/2006/main">
            <a:off x="10576070" y="209550"/>
            <a:ext cx="123161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B66028A-330B-436A-8662-ADF89CD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ZHITUO · AI OPPORTUNITY OPS</a:t>
            </a:r>
          </a:p>
        </p:txBody>
      </p:sp>
      <p:sp>
        <p:nvSpPr>
          <p:cNvPr id="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C705D46-401D-44F4-A5AC-6D3C6344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350" b="1">
                <a:solidFill>
                  <a:srgbClr val="0B1F3A"/>
                </a:solidFill>
                <a:latin typeface="MiSans"/>
                <a:ea typeface="MiSans"/>
                <a:cs typeface="MiSans"/>
              </a:defRPr>
            </a:pPr>
            <a:r>
              <a:rPr sz="4350" b="1">
                <a:solidFill>
                  <a:srgbClr val="0B1F3A"/>
                </a:solidFill>
                <a:latin typeface="MiSans"/>
                <a:ea typeface="MiSans"/>
                <a:cs typeface="MiSans"/>
              </a:rPr>
              <a:t>智拓 · 商机作战助手</a:t>
            </a:r>
          </a:p>
        </p:txBody>
      </p:sp>
      <p:sp>
        <p:nvSpPr>
          <p:cNvPr id="7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970F4509-4ACB-4352-8F09-FDB3D1A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ing-tagline">
            <a:extLst xmlns:a="http://schemas.openxmlformats.org/drawingml/2006/main">
              <a:ext uri="{FF2B5EF4-FFF2-40B4-BE49-F238E27FC236}">
                <a16:creationId xmlns:a16="http://schemas.microsoft.com/office/drawing/2014/main" id="{FB5331C5-0477-4616-BB3C-50F07114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263E6"/>
                </a:solidFill>
                <a:latin typeface="MiSans"/>
                <a:ea typeface="MiSans"/>
                <a:cs typeface="MiSans"/>
              </a:defRPr>
            </a:pPr>
            <a:r>
              <a:rPr sz="2025" b="1">
                <a:solidFill>
                  <a:srgbClr val="2263E6"/>
                </a:solidFill>
                <a:latin typeface="MiSans"/>
                <a:ea typeface="MiSans"/>
                <a:cs typeface="MiSans"/>
              </a:rPr>
              <a:t>商机不遗漏  ·  拜访不重复  ·  拓客更高效</a:t>
            </a:r>
          </a:p>
        </p:txBody>
      </p:sp>
      <p:sp>
        <p:nvSpPr>
          <p:cNvPr id="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73DB8C8-D178-4149-B636-A30D1EC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2758E"/>
                </a:solidFill>
                <a:latin typeface="MiSans"/>
                <a:ea typeface="MiSans"/>
                <a:cs typeface="MiSans"/>
              </a:defRPr>
            </a:pPr>
            <a:r>
              <a:rPr sz="1500" b="0">
                <a:solidFill>
                  <a:srgbClr val="62758E"/>
                </a:solidFill>
                <a:latin typeface="MiSans"/>
                <a:ea typeface="MiSans"/>
                <a:cs typeface="MiSans"/>
              </a:rPr>
              <a:t>AI 驱动的政企商机经营管理系统</a:t>
            </a:r>
          </a:p>
        </p:txBody>
      </p:sp>
      <p:sp>
        <p:nvSpPr>
          <p:cNvPr id="10" name="closing-thanks">
            <a:extLst xmlns:a="http://schemas.openxmlformats.org/drawingml/2006/main">
              <a:ext uri="{FF2B5EF4-FFF2-40B4-BE49-F238E27FC236}">
                <a16:creationId xmlns:a16="http://schemas.microsoft.com/office/drawing/2014/main" id="{C5B95450-6C1F-40A9-8DAB-5828E9D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43B5A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243B5A"/>
                </a:solidFill>
                <a:latin typeface="MiSans"/>
                <a:ea typeface="MiSans"/>
                <a:cs typeface="MiSans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1757781994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2026-08-31T04:53:40.2360000Z</dcterms:created>
  <dcterms:modified xsi:type="dcterms:W3CDTF">2026-08-31T04:53:40.2360000Z</dcterms:modified>
</coreProperties>
</file>